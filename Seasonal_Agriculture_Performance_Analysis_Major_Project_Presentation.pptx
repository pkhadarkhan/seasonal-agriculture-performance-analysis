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jfif"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jf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png"/><Relationship Id="rId3" Type="http://schemas.openxmlformats.org/officeDocument/2006/relationships/image" Target="../media/image1.jf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jf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3400089" cy="861497"/>
          </a:xfrm>
        </p:spPr>
        <p:txBody>
          <a:bodyPr vert="horz" lIns="91440" tIns="45720" rIns="91440" bIns="45720" rtlCol="0" anchor="t">
            <a:normAutofit/>
          </a:bodyPr>
          <a:lstStyle/>
          <a:p>
            <a:pPr algn="r"/>
            <a:r>
              <a:rPr lang="en-US" b="0" dirty="0">
                <a:solidFill>
                  <a:schemeClr val="tx1"/>
                </a:solidFill>
              </a:rPr>
              <a:t>[Student Name </a:t>
            </a:r>
            <a:endParaRPr lang="en-IN" b="0" dirty="0">
              <a:solidFill>
                <a:schemeClr val="tx1"/>
              </a:solidFill>
            </a:endParaRPr>
          </a:p>
          <a:p>
            <a:pPr algn="r"/>
            <a:r>
              <a:rPr lang="en-US" b="0" dirty="0">
                <a:solidFill>
                  <a:schemeClr val="tx1"/>
                </a:solidFill>
              </a:rPr>
              <a:t>College Name-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wrap="square" lIns="18288" rIns="18288" tIns="18288" bIns="18288">
            <a:normAutofit/>
          </a:bodyPr>
          <a:lstStyle/>
          <a:p>
            <a:r>
              <a:rPr sz="320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18288" tIns="18288" rIns="18288" bIns="18288" rtlCol="0" wrap="square">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2400" b="1"/>
              <a:t>Seasonal Agriculture
Performance Analysis</a:t>
            </a:r>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3176362" cy="646331"/>
          </a:xfrm>
          <a:prstGeom prst="rect">
            <a:avLst/>
          </a:prstGeom>
          <a:noFill/>
        </p:spPr>
        <p:txBody>
          <a:bodyPr wrap="square" rtlCol="0">
            <a:spAutoFit/>
          </a:bodyPr>
          <a:lstStyle/>
          <a:p>
            <a:r>
              <a:rPr lang="en-US" b="1" dirty="0"/>
              <a:t>AICTE STU ID : (its available in your offer letter)</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18288" tIns="18288" rIns="18288" bIns="18288" rtlCol="0" anchor="t" wrap="square">
            <a:normAutofit fontScale="70000" lnSpcReduction="20000"/>
          </a:bodyPr>
          <a:lstStyle/>
          <a:p>
            <a:pPr>
              <a:lnSpc>
                <a:spcPct val="100000"/>
              </a:lnSpc>
            </a:pPr>
            <a:r>
              <a:rPr sz="2000">
                <a:solidFill>
                  <a:srgbClr val="3C3C3C"/>
                </a:solidFill>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project analyzes the given agricultural dataset to identify meaningful seasonal patterns, trends, relationships and variations.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r>
              <a:rPr lang="en-GB" dirty="0"/>
              <a:t>[write detail description about your project ] </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777240" y="1600200"/>
            <a:ext cx="7909560" cy="4251960"/>
          </a:xfrm>
          <a:prstGeom prst="rect">
            <a:avLst/>
          </a:prstGeom>
          <a:noFill/>
        </p:spPr>
        <p:txBody>
          <a:bodyPr wrap="square" lIns="45720" rIns="45720" tIns="27432" bIns="27432">
            <a:spAutoFit/>
          </a:bodyPr>
          <a:lstStyle/>
          <a:p>
            <a:pPr algn="l"/>
            <a:r>
              <a:rPr sz="1900" b="0">
                <a:solidFill>
                  <a:srgbClr val="282828"/>
                </a:solidFill>
              </a:rPr>
              <a:t>Seasonal Agriculture Performance Analysis studies farm-level agricultural records across Kharif, Rabi and Zaid seasons. The analysis examines environmental conditions, farming practices, resource usage, production, profitability and irrigation. The notebook performs data exploration and cleaning, descriptive statistics, univariate, bivariate and multivariate analysis, outlier review, seasonal comparisons, group comparisons and a Kruskal-Wallis test. The purpose is to understand how agricultural performance changes across seasons and to communicate evidence-based findings.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wrap="square" lIns="18288" rIns="18288" tIns="18288" bIns="18288">
            <a:normAutofit/>
          </a:bodyPr>
          <a:lstStyle/>
          <a:p>
            <a:pPr algn="just">
              <a:lnSpc>
                <a:spcPct val="150000"/>
              </a:lnSpc>
            </a:pPr>
            <a:r>
              <a:rPr sz="1800"/>
              <a:t/>
            </a: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868680" y="1828800"/>
            <a:ext cx="7406640" cy="4023360"/>
          </a:xfrm>
          <a:prstGeom prst="rect">
            <a:avLst/>
          </a:prstGeom>
          <a:noFill/>
        </p:spPr>
        <p:txBody>
          <a:bodyPr wrap="square" lIns="54864" rIns="54864" tIns="36576" bIns="36576">
            <a:spAutoFit/>
          </a:bodyPr>
          <a:lstStyle/>
          <a:p>
            <a:pPr>
              <a:spcAft>
                <a:spcPts val="700"/>
              </a:spcAft>
              <a:defRPr sz="1900">
                <a:solidFill>
                  <a:srgbClr val="232323"/>
                </a:solidFill>
              </a:defRPr>
            </a:pPr>
            <a:r>
              <a:t>Farmers and farm managers – for comparing seasonal performance.</a:t>
            </a:r>
          </a:p>
          <a:p>
            <a:pPr>
              <a:spcAft>
                <a:spcPts val="700"/>
              </a:spcAft>
              <a:defRPr sz="1900">
                <a:solidFill>
                  <a:srgbClr val="232323"/>
                </a:solidFill>
              </a:defRPr>
            </a:pPr>
            <a:r>
              <a:t>Agricultural analysts and planners – for identifying seasonal patterns and differences.</a:t>
            </a:r>
          </a:p>
          <a:p>
            <a:pPr>
              <a:spcAft>
                <a:spcPts val="700"/>
              </a:spcAft>
              <a:defRPr sz="1900">
                <a:solidFill>
                  <a:srgbClr val="232323"/>
                </a:solidFill>
              </a:defRPr>
            </a:pPr>
            <a:r>
              <a:t>Irrigation and resource managers – for reviewing water use and efficiency.</a:t>
            </a:r>
          </a:p>
          <a:p>
            <a:pPr>
              <a:spcAft>
                <a:spcPts val="700"/>
              </a:spcAft>
              <a:defRPr sz="1900">
                <a:solidFill>
                  <a:srgbClr val="232323"/>
                </a:solidFill>
              </a:defRPr>
            </a:pPr>
            <a:r>
              <a:t>Agricultural researchers and students – for evidence-based seasonal analysis.</a:t>
            </a:r>
          </a:p>
          <a:p>
            <a:pPr>
              <a:spcAft>
                <a:spcPts val="700"/>
              </a:spcAft>
              <a:defRPr sz="1900">
                <a:solidFill>
                  <a:srgbClr val="232323"/>
                </a:solidFill>
              </a:defRPr>
            </a:pPr>
            <a:r>
              <a:t>Decision-makers – for using data-driven seasonal insights in planning.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17" name="TextBox 16"/>
          <p:cNvSpPr txBox="1"/>
          <p:nvPr/>
        </p:nvSpPr>
        <p:spPr>
          <a:xfrm>
            <a:off x="914400" y="1600200"/>
            <a:ext cx="7909560" cy="4389120"/>
          </a:xfrm>
          <a:prstGeom prst="rect">
            <a:avLst/>
          </a:prstGeom>
          <a:noFill/>
        </p:spPr>
        <p:txBody>
          <a:bodyPr wrap="square" lIns="54864" rIns="54864" tIns="36576" bIns="36576">
            <a:spAutoFit/>
          </a:bodyPr>
          <a:lstStyle/>
          <a:p>
            <a:pPr>
              <a:spcAft>
                <a:spcPts val="700"/>
              </a:spcAft>
              <a:defRPr sz="2400">
                <a:solidFill>
                  <a:srgbClr val="232323"/>
                </a:solidFill>
              </a:defRPr>
            </a:pPr>
            <a:r>
              <a:t>Python</a:t>
            </a:r>
          </a:p>
          <a:p>
            <a:pPr>
              <a:spcAft>
                <a:spcPts val="700"/>
              </a:spcAft>
              <a:defRPr sz="2400">
                <a:solidFill>
                  <a:srgbClr val="232323"/>
                </a:solidFill>
              </a:defRPr>
            </a:pPr>
            <a:r>
              <a:t>Pandas and NumPy</a:t>
            </a:r>
          </a:p>
          <a:p>
            <a:pPr>
              <a:spcAft>
                <a:spcPts val="700"/>
              </a:spcAft>
              <a:defRPr sz="2400">
                <a:solidFill>
                  <a:srgbClr val="232323"/>
                </a:solidFill>
              </a:defRPr>
            </a:pPr>
            <a:r>
              <a:t>Matplotlib and Seaborn</a:t>
            </a:r>
          </a:p>
          <a:p>
            <a:pPr>
              <a:spcAft>
                <a:spcPts val="700"/>
              </a:spcAft>
              <a:defRPr sz="2400">
                <a:solidFill>
                  <a:srgbClr val="232323"/>
                </a:solidFill>
              </a:defRPr>
            </a:pPr>
            <a:r>
              <a:t>SciPy (Kruskal-Wallis test)</a:t>
            </a:r>
          </a:p>
          <a:p>
            <a:pPr>
              <a:spcAft>
                <a:spcPts val="700"/>
              </a:spcAft>
              <a:defRPr sz="2400">
                <a:solidFill>
                  <a:srgbClr val="232323"/>
                </a:solidFill>
              </a:defRPr>
            </a:pPr>
            <a:r>
              <a:t>Google Colab / Jupyter Notebook</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18288" tIns="18288" rIns="18288" bIns="18288" rtlCol="0" wrap="square">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t/>
            </a:r>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18288" tIns="18288" rIns="18288" bIns="18288" rtlCol="0" wrap="square">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t/>
            </a:r>
            <a:endParaRPr lang="en-GB" sz="2000" dirty="0"/>
          </a:p>
        </p:txBody>
      </p:sp>
      <p:sp>
        <p:nvSpPr>
          <p:cNvPr id="24" name="TextBox 23"/>
          <p:cNvSpPr txBox="1"/>
          <p:nvPr/>
        </p:nvSpPr>
        <p:spPr>
          <a:xfrm>
            <a:off x="658368" y="1298448"/>
            <a:ext cx="4572000" cy="4892040"/>
          </a:xfrm>
          <a:prstGeom prst="rect">
            <a:avLst/>
          </a:prstGeom>
          <a:noFill/>
        </p:spPr>
        <p:txBody>
          <a:bodyPr wrap="square" lIns="54864" rIns="54864" tIns="36576" bIns="36576">
            <a:spAutoFit/>
          </a:bodyPr>
          <a:lstStyle/>
          <a:p>
            <a:pPr>
              <a:spcAft>
                <a:spcPts val="700"/>
              </a:spcAft>
              <a:defRPr sz="1700">
                <a:solidFill>
                  <a:srgbClr val="232323"/>
                </a:solidFill>
              </a:defRPr>
            </a:pPr>
            <a:r>
              <a:t>Kharif recorded the highest average yield at 5.63 tonnes/ha.</a:t>
            </a:r>
          </a:p>
          <a:p>
            <a:pPr>
              <a:spcAft>
                <a:spcPts val="700"/>
              </a:spcAft>
              <a:defRPr sz="1700">
                <a:solidFill>
                  <a:srgbClr val="232323"/>
                </a:solidFill>
              </a:defRPr>
            </a:pPr>
            <a:r>
              <a:t>Kharif also had the highest average profit at ₹178,914.65 per record.</a:t>
            </a:r>
          </a:p>
          <a:p>
            <a:pPr>
              <a:spcAft>
                <a:spcPts val="700"/>
              </a:spcAft>
              <a:defRPr sz="1700">
                <a:solidFill>
                  <a:srgbClr val="232323"/>
                </a:solidFill>
              </a:defRPr>
            </a:pPr>
            <a:r>
              <a:t>Rabi had the lowest average water use at 5,846.99 m³.</a:t>
            </a:r>
          </a:p>
          <a:p>
            <a:pPr>
              <a:spcAft>
                <a:spcPts val="700"/>
              </a:spcAft>
              <a:defRPr sz="1700">
                <a:solidFill>
                  <a:srgbClr val="232323"/>
                </a:solidFill>
              </a:defRPr>
            </a:pPr>
            <a:r>
              <a:t>Zaid had the lowest average yield (4.64 tonnes/ha) and average profit was −₹24,804.82.</a:t>
            </a:r>
          </a:p>
        </p:txBody>
      </p:sp>
      <p:sp>
        <p:nvSpPr>
          <p:cNvPr id="25" name="TextBox 24"/>
          <p:cNvSpPr txBox="1"/>
          <p:nvPr/>
        </p:nvSpPr>
        <p:spPr>
          <a:xfrm>
            <a:off x="5074920" y="1298448"/>
            <a:ext cx="3886200" cy="4892040"/>
          </a:xfrm>
          <a:prstGeom prst="rect">
            <a:avLst/>
          </a:prstGeom>
          <a:noFill/>
        </p:spPr>
        <p:txBody>
          <a:bodyPr wrap="square" lIns="54864" rIns="54864" tIns="36576" bIns="36576">
            <a:spAutoFit/>
          </a:bodyPr>
          <a:lstStyle/>
          <a:p>
            <a:pPr>
              <a:spcAft>
                <a:spcPts val="700"/>
              </a:spcAft>
              <a:defRPr sz="1600">
                <a:solidFill>
                  <a:srgbClr val="232323"/>
                </a:solidFill>
              </a:defRPr>
            </a:pPr>
            <a:r>
              <a:t>Kharif had the highest mean rainfall (849.20 mm); Rabi and Zaid were lower at 437.62 mm and 304.65 mm.</a:t>
            </a:r>
          </a:p>
          <a:p>
            <a:pPr>
              <a:spcAft>
                <a:spcPts val="700"/>
              </a:spcAft>
              <a:defRPr sz="1600">
                <a:solidFill>
                  <a:srgbClr val="232323"/>
                </a:solidFill>
              </a:defRPr>
            </a:pPr>
            <a:r>
              <a:t>Sugarcane had the highest average yield in every season: 53.46, 43.29 and 38.42 tonnes/ha.</a:t>
            </a:r>
          </a:p>
          <a:p>
            <a:pPr>
              <a:spcAft>
                <a:spcPts val="700"/>
              </a:spcAft>
              <a:defRPr sz="1600">
                <a:solidFill>
                  <a:srgbClr val="232323"/>
                </a:solidFill>
              </a:defRPr>
            </a:pPr>
            <a:r>
              <a:t>The Kruskal-Wallis test gave statistic 68.713 with p &lt; 0.05, showing evidence of seasonal yield differences.</a:t>
            </a:r>
          </a:p>
          <a:p>
            <a:pPr>
              <a:spcAft>
                <a:spcPts val="700"/>
              </a:spcAft>
              <a:defRPr sz="1600">
                <a:solidFill>
                  <a:srgbClr val="232323"/>
                </a:solidFill>
              </a:defRPr>
            </a:pPr>
            <a:r>
              <a:t>The cleaned dataset contains 4,000 records and 28 columns, with no duplicate rows and no remaining missing values.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wrap="square" lIns="18288" rIns="18288" tIns="18288" bIns="18288"/>
          <a:lstStyle/>
          <a:p>
            <a:pPr marL="0" indent="0">
              <a:buNone/>
            </a:pPr>
            <a:r>
              <a:rPr/>
              <a:t/>
            </a:r>
            <a:endParaRPr lang="en-IN" dirty="0"/>
          </a:p>
        </p:txBody>
      </p:sp>
      <p:pic>
        <p:nvPicPr>
          <p:cNvPr id="31" name="Picture 30" descr="cell42_out0.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rIns="45720" tIns="27432" bIns="27432">
            <a:spAutoFit/>
          </a:bodyPr>
          <a:lstStyle/>
          <a:p>
            <a:pPr algn="l"/>
            <a:r>
              <a:rPr sz="1400" b="1">
                <a:solidFill>
                  <a:srgbClr val="2D2D2D"/>
                </a:solidFill>
              </a:rPr>
              <a:t>Yield is highest on average in Kharif, followed by Rabi and Zaid.</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wrap="square" lIns="18288" rIns="18288" tIns="18288" bIns="18288"/>
          <a:lstStyle/>
          <a:p>
            <a:pPr marL="0" indent="0">
              <a:buNone/>
            </a:pPr>
            <a:r>
              <a:rPr/>
              <a:t/>
            </a:r>
            <a:endParaRPr lang="en-IN" dirty="0"/>
          </a:p>
        </p:txBody>
      </p:sp>
      <p:pic>
        <p:nvPicPr>
          <p:cNvPr id="31" name="Picture 30" descr="cell45_out0.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rIns="45720" tIns="27432" bIns="27432">
            <a:spAutoFit/>
          </a:bodyPr>
          <a:lstStyle/>
          <a:p>
            <a:pPr algn="l"/>
            <a:r>
              <a:rPr sz="1400" b="1">
                <a:solidFill>
                  <a:srgbClr val="2D2D2D"/>
                </a:solidFill>
              </a:rPr>
              <a:t>Rabi uses the least water on average, while Zaid has the highest average water use.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wrap="square" lIns="18288" rIns="18288" tIns="18288" bIns="18288"/>
          <a:lstStyle/>
          <a:p>
            <a:pPr marL="0" indent="0">
              <a:buNone/>
            </a:pPr>
            <a:r>
              <a:rPr/>
              <a:t/>
            </a:r>
            <a:endParaRPr lang="en-IN" dirty="0"/>
          </a:p>
        </p:txBody>
      </p:sp>
      <p:pic>
        <p:nvPicPr>
          <p:cNvPr id="31" name="Picture 30" descr="cell61_out1.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rIns="45720" tIns="27432" bIns="27432">
            <a:spAutoFit/>
          </a:bodyPr>
          <a:lstStyle/>
          <a:p>
            <a:pPr algn="l"/>
            <a:r>
              <a:rPr sz="1400" b="1">
                <a:solidFill>
                  <a:srgbClr val="2D2D2D"/>
                </a:solidFill>
              </a:rPr>
              <a:t>Sugarcane is the highest-yielding crop in all three seasons in the executed analysis.</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wrap="square" lIns="18288" rIns="18288" tIns="18288" bIns="18288"/>
          <a:lstStyle/>
          <a:p>
            <a:pPr marL="0" indent="0">
              <a:buNone/>
            </a:pPr>
            <a:r>
              <a:rPr/>
              <a:t/>
            </a:r>
            <a:endParaRPr lang="en-IN" dirty="0"/>
          </a:p>
        </p:txBody>
      </p:sp>
      <p:pic>
        <p:nvPicPr>
          <p:cNvPr id="31" name="Picture 30" descr="cell63_out1.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rIns="45720" tIns="27432" bIns="27432">
            <a:spAutoFit/>
          </a:bodyPr>
          <a:lstStyle/>
          <a:p>
            <a:pPr algn="l"/>
            <a:r>
              <a:rPr sz="1400" b="1">
                <a:solidFill>
                  <a:srgbClr val="2D2D2D"/>
                </a:solidFill>
              </a:rPr>
              <a:t>Rainfed has the highest average water efficiency, while Drip has the highest average yield among irrigation methods.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18288" tIns="18288" rIns="18288" bIns="18288" rtlCol="0" wrap="square">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t/>
            </a:r>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18288" tIns="18288" rIns="18288" bIns="18288" rtlCol="0" wrap="square">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t/>
            </a:r>
            <a:endParaRPr lang="en-GB" sz="2000" dirty="0"/>
          </a:p>
        </p:txBody>
      </p:sp>
      <p:sp>
        <p:nvSpPr>
          <p:cNvPr id="24" name="TextBox 23"/>
          <p:cNvSpPr txBox="1"/>
          <p:nvPr/>
        </p:nvSpPr>
        <p:spPr>
          <a:xfrm>
            <a:off x="685800" y="1325880"/>
            <a:ext cx="8138160" cy="4983480"/>
          </a:xfrm>
          <a:prstGeom prst="rect">
            <a:avLst/>
          </a:prstGeom>
          <a:noFill/>
        </p:spPr>
        <p:txBody>
          <a:bodyPr wrap="square" lIns="54864" rIns="54864" tIns="36576" bIns="36576">
            <a:spAutoFit/>
          </a:bodyPr>
          <a:lstStyle/>
          <a:p>
            <a:pPr>
              <a:spcAft>
                <a:spcPts val="700"/>
              </a:spcAft>
              <a:defRPr sz="2000">
                <a:solidFill>
                  <a:srgbClr val="232323"/>
                </a:solidFill>
              </a:defRPr>
            </a:pPr>
            <a:r>
              <a:t>Include additional years and wider regional coverage for stronger seasonal comparisons.</a:t>
            </a:r>
          </a:p>
          <a:p>
            <a:pPr>
              <a:spcAft>
                <a:spcPts val="700"/>
              </a:spcAft>
              <a:defRPr sz="2000">
                <a:solidFill>
                  <a:srgbClr val="232323"/>
                </a:solidFill>
              </a:defRPr>
            </a:pPr>
            <a:r>
              <a:t>Add weather and soil observations from external sources for deeper seasonal analysis.</a:t>
            </a:r>
          </a:p>
          <a:p>
            <a:pPr>
              <a:spcAft>
                <a:spcPts val="700"/>
              </a:spcAft>
              <a:defRPr sz="2000">
                <a:solidFill>
                  <a:srgbClr val="232323"/>
                </a:solidFill>
              </a:defRPr>
            </a:pPr>
            <a:r>
              <a:t>Extend the analysis with forecasting or predictive models when suitable data is available.</a:t>
            </a:r>
          </a:p>
          <a:p>
            <a:pPr>
              <a:spcAft>
                <a:spcPts val="700"/>
              </a:spcAft>
              <a:defRPr sz="2000">
                <a:solidFill>
                  <a:srgbClr val="232323"/>
                </a:solidFill>
              </a:defRPr>
            </a:pPr>
            <a:r>
              <a:t>Develop an interactive dashboard to present seasonal indicators and comparisons.</a:t>
            </a:r>
          </a:p>
          <a:p>
            <a:pPr>
              <a:spcAft>
                <a:spcPts val="700"/>
              </a:spcAft>
              <a:defRPr sz="2000">
                <a:solidFill>
                  <a:srgbClr val="232323"/>
                </a:solidFill>
              </a:defRPr>
            </a:pPr>
            <a:r>
              <a:t>Automate seasonal reports for regular agricultural planning and resource monitoring.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lIns="18288" rIns="18288" tIns="18288" bIns="18288">
            <a:spAutoFit/>
          </a:bodyPr>
          <a:lstStyle/>
          <a:p>
            <a:r>
              <a:rPr/>
              <a:t/>
            </a:r>
          </a:p>
        </p:txBody>
      </p:sp>
      <p:sp>
        <p:nvSpPr>
          <p:cNvPr id="24" name="TextBox 23"/>
          <p:cNvSpPr txBox="1"/>
          <p:nvPr/>
        </p:nvSpPr>
        <p:spPr>
          <a:xfrm>
            <a:off x="777240" y="1417320"/>
            <a:ext cx="7223760" cy="640080"/>
          </a:xfrm>
          <a:prstGeom prst="rect">
            <a:avLst/>
          </a:prstGeom>
          <a:noFill/>
        </p:spPr>
        <p:txBody>
          <a:bodyPr wrap="square" lIns="45720" rIns="45720" tIns="27432" bIns="27432">
            <a:spAutoFit/>
          </a:bodyPr>
          <a:lstStyle/>
          <a:p>
            <a:pPr algn="l"/>
            <a:r>
              <a:rPr sz="1800" b="0">
                <a:solidFill>
                  <a:srgbClr val="282828"/>
                </a:solidFill>
              </a:rPr>
              <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1356</TotalTime>
  <Words>202</Words>
  <Application>Microsoft Office PowerPoint</Application>
  <PresentationFormat>Widescreen</PresentationFormat>
  <Paragraphs>26</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[write detail description about your project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Aswini Kumar Motapothula</cp:lastModifiedBy>
  <cp:revision>98</cp:revision>
  <dcterms:created xsi:type="dcterms:W3CDTF">2021-07-11T13:13:15Z</dcterms:created>
  <dcterms:modified xsi:type="dcterms:W3CDTF">2026-09-04T02:42:44Z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
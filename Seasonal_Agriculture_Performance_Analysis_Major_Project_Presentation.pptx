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67"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PKhadarkhan/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260411" y="3456168"/>
            <a:ext cx="5382986" cy="861497"/>
          </a:xfrm>
        </p:spPr>
        <p:txBody>
          <a:bodyPr vert="horz" lIns="91440" tIns="45720" rIns="91440" bIns="45720" rtlCol="0" anchor="t">
            <a:normAutofit/>
          </a:bodyPr>
          <a:lstStyle/>
          <a:p>
            <a:r>
              <a:rPr lang="en-US" dirty="0">
                <a:solidFill>
                  <a:schemeClr val="tx1"/>
                </a:solidFill>
              </a:rPr>
              <a:t>Name:</a:t>
            </a:r>
            <a:r>
              <a:rPr lang="en-US" b="0" dirty="0">
                <a:solidFill>
                  <a:schemeClr val="tx1"/>
                </a:solidFill>
              </a:rPr>
              <a:t> PATAN KHADAR KHAN </a:t>
            </a:r>
            <a:endParaRPr lang="en-IN" b="0" dirty="0">
              <a:solidFill>
                <a:schemeClr val="tx1"/>
              </a:solidFill>
            </a:endParaRPr>
          </a:p>
          <a:p>
            <a:r>
              <a:rPr lang="en-US" dirty="0">
                <a:solidFill>
                  <a:schemeClr val="tx1"/>
                </a:solidFill>
              </a:rPr>
              <a:t>College Name:</a:t>
            </a:r>
            <a:r>
              <a:rPr lang="en-US" b="0" dirty="0">
                <a:solidFill>
                  <a:schemeClr val="tx1"/>
                </a:solidFill>
              </a:rPr>
              <a:t> Raghu Engineering College</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5957" y="2718530"/>
            <a:ext cx="4998720" cy="743448"/>
          </a:xfrm>
        </p:spPr>
        <p:txBody>
          <a:bodyPr wrap="square" lIns="18288" tIns="18288" rIns="18288" bIns="18288">
            <a:normAutofit/>
          </a:bodyPr>
          <a:lstStyle/>
          <a:p>
            <a:r>
              <a:rPr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3470987" y="2794001"/>
            <a:ext cx="8276253" cy="861497"/>
          </a:xfrm>
          <a:prstGeom prst="rect">
            <a:avLst/>
          </a:prstGeom>
        </p:spPr>
        <p:txBody>
          <a:bodyPr vert="horz" wrap="square" lIns="18288" tIns="18288" rIns="18288" bIns="18288"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2400" b="1" dirty="0"/>
              <a:t>Seasonal Agriculture</a:t>
            </a:r>
            <a:r>
              <a:rPr lang="en-US" sz="2400" b="1" dirty="0"/>
              <a:t> </a:t>
            </a:r>
            <a:r>
              <a:rPr sz="2400" b="1" dirty="0"/>
              <a:t>Performance Analysis</a:t>
            </a:r>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6236496" cy="369332"/>
          </a:xfrm>
          <a:prstGeom prst="rect">
            <a:avLst/>
          </a:prstGeom>
          <a:noFill/>
        </p:spPr>
        <p:txBody>
          <a:bodyPr wrap="square" rtlCol="0">
            <a:spAutoFit/>
          </a:bodyPr>
          <a:lstStyle/>
          <a:p>
            <a:r>
              <a:rPr lang="en-US" b="1" dirty="0"/>
              <a:t>AICTE STU ID : </a:t>
            </a:r>
            <a:r>
              <a:rPr lang="en-IN" dirty="0"/>
              <a:t>STU68fa3fb46a7001761230772</a:t>
            </a:r>
            <a:endParaRPr lang="en-US"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558659" y="2294529"/>
            <a:ext cx="6431280" cy="3607987"/>
          </a:xfrm>
        </p:spPr>
        <p:txBody>
          <a:bodyPr vert="horz" wrap="square" lIns="18288" tIns="18288" rIns="18288" bIns="18288" rtlCol="0" anchor="t">
            <a:normAutofit lnSpcReduction="10000"/>
          </a:bodyPr>
          <a:lstStyle/>
          <a:p>
            <a:r>
              <a:rPr sz="2000" dirty="0">
                <a:solidFill>
                  <a:srgbClr val="3C3C3C"/>
                </a:solidFill>
              </a:rPr>
              <a:t>Agricultural activities are influenced by seasonal variations in environmental conditions, farming practices, resource availability and market conditions. As a result, agricultural performance may differ from one season to another.</a:t>
            </a:r>
            <a:endParaRPr lang="en-US" sz="2000" dirty="0">
              <a:solidFill>
                <a:srgbClr val="3C3C3C"/>
              </a:solidFill>
            </a:endParaRPr>
          </a:p>
          <a:p>
            <a:r>
              <a:rPr sz="2000" dirty="0">
                <a:solidFill>
                  <a:srgbClr val="3C3C3C"/>
                </a:solidFill>
              </a:rPr>
              <a:t>However, raw agricultural data does not clearly explain how agricultural performance changes across seasons or what patterns can be observed in different seasonal conditions. The project analyzes the given agricultural dataset to identify meaningful seasonal patterns, trends, relationships and variations.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558659" y="955484"/>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44432" y="2219960"/>
            <a:ext cx="7909560" cy="3271665"/>
          </a:xfrm>
          <a:prstGeom prst="rect">
            <a:avLst/>
          </a:prstGeom>
          <a:noFill/>
        </p:spPr>
        <p:txBody>
          <a:bodyPr wrap="square" lIns="45720" tIns="27432" rIns="45720" bIns="27432">
            <a:spAutoFit/>
          </a:bodyPr>
          <a:lstStyle/>
          <a:p>
            <a:pPr marL="342900" indent="-342900" algn="l">
              <a:buFont typeface="Arial" panose="020B0604020202020204" pitchFamily="34" charset="0"/>
              <a:buChar char="•"/>
            </a:pPr>
            <a:r>
              <a:rPr lang="en-US" sz="1900" b="0" dirty="0">
                <a:solidFill>
                  <a:srgbClr val="282828"/>
                </a:solidFill>
              </a:rPr>
              <a:t>Seasonal Agriculture Performance Analysis studies farm-level agricultural records across Kharif, Rabi and Zaid seasons. The analysis examines environmental conditions, farming practices, resource usage, production, profitability and irrigation. </a:t>
            </a:r>
            <a:endParaRPr lang="en-US" sz="1900" dirty="0">
              <a:solidFill>
                <a:srgbClr val="282828"/>
              </a:solidFill>
            </a:endParaRPr>
          </a:p>
          <a:p>
            <a:pPr marL="342900" indent="-342900" algn="l">
              <a:buFont typeface="Arial" panose="020B0604020202020204" pitchFamily="34" charset="0"/>
              <a:buChar char="•"/>
            </a:pPr>
            <a:endParaRPr lang="en-US" sz="1900" b="0" dirty="0">
              <a:solidFill>
                <a:srgbClr val="282828"/>
              </a:solidFill>
            </a:endParaRPr>
          </a:p>
          <a:p>
            <a:pPr marL="342900" indent="-342900" algn="l">
              <a:buFont typeface="Arial" panose="020B0604020202020204" pitchFamily="34" charset="0"/>
              <a:buChar char="•"/>
            </a:pPr>
            <a:r>
              <a:rPr lang="en-US" sz="1900" b="0" dirty="0">
                <a:solidFill>
                  <a:srgbClr val="282828"/>
                </a:solidFill>
              </a:rPr>
              <a:t>The notebook performs data exploration and cleaning, descriptive statistics, univariate, bivariate and multivariate analysis, outlier review, seasonal comparisons, group comparisons and a Kruskal-Wallis test. The purpose is to understand how agricultural performance changes across seasons and to communicate evidence-based findings.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1057671"/>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812696" y="1958023"/>
            <a:ext cx="7406640" cy="3356816"/>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1900">
                <a:solidFill>
                  <a:srgbClr val="232323"/>
                </a:solidFill>
              </a:defRPr>
            </a:pPr>
            <a:r>
              <a:rPr dirty="0"/>
              <a:t>Farmers and </a:t>
            </a:r>
            <a:r>
              <a:rPr lang="en-IN" dirty="0"/>
              <a:t>f</a:t>
            </a:r>
            <a:r>
              <a:rPr dirty="0"/>
              <a:t>arm managers – for comparing seasonal performance.</a:t>
            </a:r>
          </a:p>
          <a:p>
            <a:pPr marL="342900" indent="-342900">
              <a:spcAft>
                <a:spcPts val="700"/>
              </a:spcAft>
              <a:buFont typeface="Arial" panose="020B0604020202020204" pitchFamily="34" charset="0"/>
              <a:buChar char="•"/>
              <a:defRPr sz="1900">
                <a:solidFill>
                  <a:srgbClr val="232323"/>
                </a:solidFill>
              </a:defRPr>
            </a:pPr>
            <a:r>
              <a:rPr dirty="0"/>
              <a:t>Agricultural analysts and planners – for identifying seasonal patterns and differences.</a:t>
            </a:r>
          </a:p>
          <a:p>
            <a:pPr marL="342900" indent="-342900">
              <a:spcAft>
                <a:spcPts val="700"/>
              </a:spcAft>
              <a:buFont typeface="Arial" panose="020B0604020202020204" pitchFamily="34" charset="0"/>
              <a:buChar char="•"/>
              <a:defRPr sz="1900">
                <a:solidFill>
                  <a:srgbClr val="232323"/>
                </a:solidFill>
              </a:defRPr>
            </a:pPr>
            <a:r>
              <a:rPr dirty="0"/>
              <a:t>Irrigation and resource managers – for reviewing water use and efficiency.</a:t>
            </a:r>
          </a:p>
          <a:p>
            <a:pPr marL="342900" indent="-342900">
              <a:spcAft>
                <a:spcPts val="700"/>
              </a:spcAft>
              <a:buFont typeface="Arial" panose="020B0604020202020204" pitchFamily="34" charset="0"/>
              <a:buChar char="•"/>
              <a:defRPr sz="1900">
                <a:solidFill>
                  <a:srgbClr val="232323"/>
                </a:solidFill>
              </a:defRPr>
            </a:pPr>
            <a:r>
              <a:rPr dirty="0"/>
              <a:t>Agricultural researchers and students – for evidence-based seasonal analysis.</a:t>
            </a:r>
          </a:p>
          <a:p>
            <a:pPr marL="342900" indent="-342900">
              <a:spcAft>
                <a:spcPts val="700"/>
              </a:spcAft>
              <a:buFont typeface="Arial" panose="020B0604020202020204" pitchFamily="34" charset="0"/>
              <a:buChar char="•"/>
              <a:defRPr sz="1900">
                <a:solidFill>
                  <a:srgbClr val="232323"/>
                </a:solidFill>
              </a:defRPr>
            </a:pPr>
            <a:r>
              <a:rPr dirty="0"/>
              <a:t>Decision-makers – for using data-driven seasonal insights in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TextBox 16"/>
          <p:cNvSpPr txBox="1"/>
          <p:nvPr/>
        </p:nvSpPr>
        <p:spPr>
          <a:xfrm>
            <a:off x="914400" y="1600200"/>
            <a:ext cx="7909560" cy="2279598"/>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2400">
                <a:solidFill>
                  <a:srgbClr val="232323"/>
                </a:solidFill>
              </a:defRPr>
            </a:pPr>
            <a:r>
              <a:rPr dirty="0"/>
              <a:t>Python</a:t>
            </a:r>
          </a:p>
          <a:p>
            <a:pPr marL="342900" indent="-342900">
              <a:spcAft>
                <a:spcPts val="700"/>
              </a:spcAft>
              <a:buFont typeface="Arial" panose="020B0604020202020204" pitchFamily="34" charset="0"/>
              <a:buChar char="•"/>
              <a:defRPr sz="2400">
                <a:solidFill>
                  <a:srgbClr val="232323"/>
                </a:solidFill>
              </a:defRPr>
            </a:pPr>
            <a:r>
              <a:rPr dirty="0"/>
              <a:t>Pandas and NumPy</a:t>
            </a:r>
          </a:p>
          <a:p>
            <a:pPr marL="342900" indent="-342900">
              <a:spcAft>
                <a:spcPts val="700"/>
              </a:spcAft>
              <a:buFont typeface="Arial" panose="020B0604020202020204" pitchFamily="34" charset="0"/>
              <a:buChar char="•"/>
              <a:defRPr sz="2400">
                <a:solidFill>
                  <a:srgbClr val="232323"/>
                </a:solidFill>
              </a:defRPr>
            </a:pPr>
            <a:r>
              <a:rPr dirty="0"/>
              <a:t>Matplotlib and Seaborn</a:t>
            </a:r>
          </a:p>
          <a:p>
            <a:pPr marL="342900" indent="-342900">
              <a:spcAft>
                <a:spcPts val="700"/>
              </a:spcAft>
              <a:buFont typeface="Arial" panose="020B0604020202020204" pitchFamily="34" charset="0"/>
              <a:buChar char="•"/>
              <a:defRPr sz="2400">
                <a:solidFill>
                  <a:srgbClr val="232323"/>
                </a:solidFill>
              </a:defRPr>
            </a:pPr>
            <a:r>
              <a:rPr dirty="0"/>
              <a:t>SciPy (Kruskal-Wallis test)</a:t>
            </a:r>
          </a:p>
          <a:p>
            <a:pPr marL="342900" indent="-342900">
              <a:spcAft>
                <a:spcPts val="700"/>
              </a:spcAft>
              <a:buFont typeface="Arial" panose="020B0604020202020204" pitchFamily="34" charset="0"/>
              <a:buChar char="•"/>
              <a:defRPr sz="2400">
                <a:solidFill>
                  <a:srgbClr val="232323"/>
                </a:solidFill>
              </a:defRPr>
            </a:pPr>
            <a:r>
              <a:rPr dirty="0"/>
              <a:t>Google </a:t>
            </a:r>
            <a:r>
              <a:rPr dirty="0" err="1"/>
              <a:t>Colab</a:t>
            </a:r>
            <a:r>
              <a:rPr dirty="0"/>
              <a:t> / Jupyter Notebook</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barn(inVertical)">
                                      <p:cBhvr>
                                        <p:cTn id="14"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1D784E4A-02D5-9F7E-C9D1-BF30650C0211}"/>
              </a:ext>
            </a:extLst>
          </p:cNvPr>
          <p:cNvPicPr>
            <a:picLocks noChangeAspect="1"/>
          </p:cNvPicPr>
          <p:nvPr/>
        </p:nvPicPr>
        <p:blipFill>
          <a:blip r:embed="rId3"/>
          <a:stretch>
            <a:fillRect/>
          </a:stretch>
        </p:blipFill>
        <p:spPr>
          <a:xfrm>
            <a:off x="1262328" y="1201586"/>
            <a:ext cx="7030044" cy="5365102"/>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42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dirty="0">
                <a:solidFill>
                  <a:srgbClr val="2D2D2D"/>
                </a:solidFill>
              </a:rPr>
              <a:t>Yield is highest on average in Kharif, followed by Rabi and Zaid.</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1000"/>
                                        <p:tgtEl>
                                          <p:spTgt spid="31"/>
                                        </p:tgtEl>
                                      </p:cBhvr>
                                    </p:animEffect>
                                    <p:anim calcmode="lin" valueType="num">
                                      <p:cBhvr>
                                        <p:cTn id="29" dur="1000" fill="hold"/>
                                        <p:tgtEl>
                                          <p:spTgt spid="31"/>
                                        </p:tgtEl>
                                        <p:attrNameLst>
                                          <p:attrName>ppt_x</p:attrName>
                                        </p:attrNameLst>
                                      </p:cBhvr>
                                      <p:tavLst>
                                        <p:tav tm="0">
                                          <p:val>
                                            <p:strVal val="#ppt_x"/>
                                          </p:val>
                                        </p:tav>
                                        <p:tav tm="100000">
                                          <p:val>
                                            <p:strVal val="#ppt_x"/>
                                          </p:val>
                                        </p:tav>
                                      </p:tavLst>
                                    </p:anim>
                                    <p:anim calcmode="lin" valueType="num">
                                      <p:cBhvr>
                                        <p:cTn id="30"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anim calcmode="lin" valueType="num">
                                      <p:cBhvr>
                                        <p:cTn id="36" dur="1000" fill="hold"/>
                                        <p:tgtEl>
                                          <p:spTgt spid="32"/>
                                        </p:tgtEl>
                                        <p:attrNameLst>
                                          <p:attrName>ppt_x</p:attrName>
                                        </p:attrNameLst>
                                      </p:cBhvr>
                                      <p:tavLst>
                                        <p:tav tm="0">
                                          <p:val>
                                            <p:strVal val="#ppt_x"/>
                                          </p:val>
                                        </p:tav>
                                        <p:tav tm="100000">
                                          <p:val>
                                            <p:strVal val="#ppt_x"/>
                                          </p:val>
                                        </p:tav>
                                      </p:tavLst>
                                    </p:anim>
                                    <p:anim calcmode="lin" valueType="num">
                                      <p:cBhvr>
                                        <p:cTn id="37"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3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45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dirty="0">
                <a:solidFill>
                  <a:srgbClr val="2D2D2D"/>
                </a:solidFill>
              </a:rPr>
              <a:t>Rabi uses the least water on average, while Zaid has the highest average water use.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1000"/>
                                        <p:tgtEl>
                                          <p:spTgt spid="31"/>
                                        </p:tgtEl>
                                      </p:cBhvr>
                                    </p:animEffect>
                                    <p:anim calcmode="lin" valueType="num">
                                      <p:cBhvr>
                                        <p:cTn id="29" dur="1000" fill="hold"/>
                                        <p:tgtEl>
                                          <p:spTgt spid="31"/>
                                        </p:tgtEl>
                                        <p:attrNameLst>
                                          <p:attrName>ppt_x</p:attrName>
                                        </p:attrNameLst>
                                      </p:cBhvr>
                                      <p:tavLst>
                                        <p:tav tm="0">
                                          <p:val>
                                            <p:strVal val="#ppt_x"/>
                                          </p:val>
                                        </p:tav>
                                        <p:tav tm="100000">
                                          <p:val>
                                            <p:strVal val="#ppt_x"/>
                                          </p:val>
                                        </p:tav>
                                      </p:tavLst>
                                    </p:anim>
                                    <p:anim calcmode="lin" valueType="num">
                                      <p:cBhvr>
                                        <p:cTn id="30"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anim calcmode="lin" valueType="num">
                                      <p:cBhvr>
                                        <p:cTn id="36" dur="1000" fill="hold"/>
                                        <p:tgtEl>
                                          <p:spTgt spid="32"/>
                                        </p:tgtEl>
                                        <p:attrNameLst>
                                          <p:attrName>ppt_x</p:attrName>
                                        </p:attrNameLst>
                                      </p:cBhvr>
                                      <p:tavLst>
                                        <p:tav tm="0">
                                          <p:val>
                                            <p:strVal val="#ppt_x"/>
                                          </p:val>
                                        </p:tav>
                                        <p:tav tm="100000">
                                          <p:val>
                                            <p:strVal val="#ppt_x"/>
                                          </p:val>
                                        </p:tav>
                                      </p:tavLst>
                                    </p:anim>
                                    <p:anim calcmode="lin" valueType="num">
                                      <p:cBhvr>
                                        <p:cTn id="37"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3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61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dirty="0">
                <a:solidFill>
                  <a:srgbClr val="2D2D2D"/>
                </a:solidFill>
              </a:rPr>
              <a:t>Sugarcane is the highest-yielding crop in all three seasons in the executed analysis.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1000"/>
                                        <p:tgtEl>
                                          <p:spTgt spid="31"/>
                                        </p:tgtEl>
                                      </p:cBhvr>
                                    </p:animEffect>
                                    <p:anim calcmode="lin" valueType="num">
                                      <p:cBhvr>
                                        <p:cTn id="29" dur="1000" fill="hold"/>
                                        <p:tgtEl>
                                          <p:spTgt spid="31"/>
                                        </p:tgtEl>
                                        <p:attrNameLst>
                                          <p:attrName>ppt_x</p:attrName>
                                        </p:attrNameLst>
                                      </p:cBhvr>
                                      <p:tavLst>
                                        <p:tav tm="0">
                                          <p:val>
                                            <p:strVal val="#ppt_x"/>
                                          </p:val>
                                        </p:tav>
                                        <p:tav tm="100000">
                                          <p:val>
                                            <p:strVal val="#ppt_x"/>
                                          </p:val>
                                        </p:tav>
                                      </p:tavLst>
                                    </p:anim>
                                    <p:anim calcmode="lin" valueType="num">
                                      <p:cBhvr>
                                        <p:cTn id="30"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anim calcmode="lin" valueType="num">
                                      <p:cBhvr>
                                        <p:cTn id="36" dur="1000" fill="hold"/>
                                        <p:tgtEl>
                                          <p:spTgt spid="32"/>
                                        </p:tgtEl>
                                        <p:attrNameLst>
                                          <p:attrName>ppt_x</p:attrName>
                                        </p:attrNameLst>
                                      </p:cBhvr>
                                      <p:tavLst>
                                        <p:tav tm="0">
                                          <p:val>
                                            <p:strVal val="#ppt_x"/>
                                          </p:val>
                                        </p:tav>
                                        <p:tav tm="100000">
                                          <p:val>
                                            <p:strVal val="#ppt_x"/>
                                          </p:val>
                                        </p:tav>
                                      </p:tavLst>
                                    </p:anim>
                                    <p:anim calcmode="lin" valueType="num">
                                      <p:cBhvr>
                                        <p:cTn id="37"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3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63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dirty="0">
                <a:solidFill>
                  <a:srgbClr val="2D2D2D"/>
                </a:solidFill>
              </a:rPr>
              <a:t>Rainfed has the highest average water efficiency, while Drip has the highest average yield among irrigation methods.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1000"/>
                                        <p:tgtEl>
                                          <p:spTgt spid="32"/>
                                        </p:tgtEl>
                                      </p:cBhvr>
                                    </p:animEffect>
                                    <p:anim calcmode="lin" valueType="num">
                                      <p:cBhvr>
                                        <p:cTn id="29" dur="1000" fill="hold"/>
                                        <p:tgtEl>
                                          <p:spTgt spid="32"/>
                                        </p:tgtEl>
                                        <p:attrNameLst>
                                          <p:attrName>ppt_x</p:attrName>
                                        </p:attrNameLst>
                                      </p:cBhvr>
                                      <p:tavLst>
                                        <p:tav tm="0">
                                          <p:val>
                                            <p:strVal val="#ppt_x"/>
                                          </p:val>
                                        </p:tav>
                                        <p:tav tm="100000">
                                          <p:val>
                                            <p:strVal val="#ppt_x"/>
                                          </p:val>
                                        </p:tav>
                                      </p:tavLst>
                                    </p:anim>
                                    <p:anim calcmode="lin" valueType="num">
                                      <p:cBhvr>
                                        <p:cTn id="30" dur="1000" fill="hold"/>
                                        <p:tgtEl>
                                          <p:spTgt spid="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3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937214" y="949087"/>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508518" y="2071924"/>
            <a:ext cx="8138160" cy="3510705"/>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2000">
                <a:solidFill>
                  <a:srgbClr val="232323"/>
                </a:solidFill>
              </a:defRPr>
            </a:pPr>
            <a:r>
              <a:rPr dirty="0"/>
              <a:t>Include additional years and wider regional coverage for stronger seasonal comparisons.</a:t>
            </a:r>
          </a:p>
          <a:p>
            <a:pPr marL="342900" indent="-342900">
              <a:spcAft>
                <a:spcPts val="700"/>
              </a:spcAft>
              <a:buFont typeface="Arial" panose="020B0604020202020204" pitchFamily="34" charset="0"/>
              <a:buChar char="•"/>
              <a:defRPr sz="2000">
                <a:solidFill>
                  <a:srgbClr val="232323"/>
                </a:solidFill>
              </a:defRPr>
            </a:pPr>
            <a:r>
              <a:rPr dirty="0"/>
              <a:t>Add weather and soil observations from external sources for deeper seasonal analysis.</a:t>
            </a:r>
          </a:p>
          <a:p>
            <a:pPr marL="342900" indent="-342900">
              <a:spcAft>
                <a:spcPts val="700"/>
              </a:spcAft>
              <a:buFont typeface="Arial" panose="020B0604020202020204" pitchFamily="34" charset="0"/>
              <a:buChar char="•"/>
              <a:defRPr sz="2000">
                <a:solidFill>
                  <a:srgbClr val="232323"/>
                </a:solidFill>
              </a:defRPr>
            </a:pPr>
            <a:r>
              <a:rPr dirty="0"/>
              <a:t>Extend the analysis with forecasting or predictive models when suitable data is available.</a:t>
            </a:r>
          </a:p>
          <a:p>
            <a:pPr marL="342900" indent="-342900">
              <a:spcAft>
                <a:spcPts val="700"/>
              </a:spcAft>
              <a:buFont typeface="Arial" panose="020B0604020202020204" pitchFamily="34" charset="0"/>
              <a:buChar char="•"/>
              <a:defRPr sz="2000">
                <a:solidFill>
                  <a:srgbClr val="232323"/>
                </a:solidFill>
              </a:defRPr>
            </a:pPr>
            <a:r>
              <a:rPr dirty="0"/>
              <a:t>Develop an interactive dashboard to present seasonal indicators and comparisons.</a:t>
            </a:r>
          </a:p>
          <a:p>
            <a:pPr marL="342900" indent="-342900">
              <a:spcAft>
                <a:spcPts val="700"/>
              </a:spcAft>
              <a:buFont typeface="Arial" panose="020B0604020202020204" pitchFamily="34" charset="0"/>
              <a:buChar char="•"/>
              <a:defRPr sz="2000">
                <a:solidFill>
                  <a:srgbClr val="232323"/>
                </a:solidFill>
              </a:defRPr>
            </a:pPr>
            <a:r>
              <a:rPr dirty="0"/>
              <a:t>Automate seasonal reports for regular agricultural planning and resource monitoring.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1000"/>
                                        <p:tgtEl>
                                          <p:spTgt spid="24"/>
                                        </p:tgtEl>
                                      </p:cBhvr>
                                    </p:animEffect>
                                    <p:anim calcmode="lin" valueType="num">
                                      <p:cBhvr>
                                        <p:cTn id="29" dur="1000" fill="hold"/>
                                        <p:tgtEl>
                                          <p:spTgt spid="24"/>
                                        </p:tgtEl>
                                        <p:attrNameLst>
                                          <p:attrName>ppt_x</p:attrName>
                                        </p:attrNameLst>
                                      </p:cBhvr>
                                      <p:tavLst>
                                        <p:tav tm="0">
                                          <p:val>
                                            <p:strVal val="#ppt_x"/>
                                          </p:val>
                                        </p:tav>
                                        <p:tav tm="100000">
                                          <p:val>
                                            <p:strVal val="#ppt_x"/>
                                          </p:val>
                                        </p:tav>
                                      </p:tavLst>
                                    </p:anim>
                                    <p:anim calcmode="lin" valueType="num">
                                      <p:cBhvr>
                                        <p:cTn id="30"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2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lIns="18288" tIns="18288" rIns="18288" bIns="18288">
            <a:spAutoFit/>
          </a:bodyPr>
          <a:lstStyle/>
          <a:p>
            <a:endParaRPr/>
          </a:p>
        </p:txBody>
      </p:sp>
      <p:sp>
        <p:nvSpPr>
          <p:cNvPr id="24" name="TextBox 23"/>
          <p:cNvSpPr txBox="1"/>
          <p:nvPr/>
        </p:nvSpPr>
        <p:spPr>
          <a:xfrm>
            <a:off x="777240" y="1417320"/>
            <a:ext cx="7223760" cy="640080"/>
          </a:xfrm>
          <a:prstGeom prst="rect">
            <a:avLst/>
          </a:prstGeom>
          <a:noFill/>
        </p:spPr>
        <p:txBody>
          <a:bodyPr wrap="square" lIns="45720" tIns="27432" rIns="45720" bIns="27432">
            <a:spAutoFit/>
          </a:bodyPr>
          <a:lstStyle/>
          <a:p>
            <a:pPr algn="l"/>
            <a:endParaRPr/>
          </a:p>
        </p:txBody>
      </p:sp>
      <p:sp>
        <p:nvSpPr>
          <p:cNvPr id="6" name="TextBox 5">
            <a:extLst>
              <a:ext uri="{FF2B5EF4-FFF2-40B4-BE49-F238E27FC236}">
                <a16:creationId xmlns:a16="http://schemas.microsoft.com/office/drawing/2014/main" id="{330EF190-88FC-B8E6-2AF8-97EE8A88526F}"/>
              </a:ext>
            </a:extLst>
          </p:cNvPr>
          <p:cNvSpPr txBox="1"/>
          <p:nvPr/>
        </p:nvSpPr>
        <p:spPr>
          <a:xfrm>
            <a:off x="522514" y="2015234"/>
            <a:ext cx="6102220" cy="646331"/>
          </a:xfrm>
          <a:prstGeom prst="rect">
            <a:avLst/>
          </a:prstGeom>
          <a:noFill/>
        </p:spPr>
        <p:txBody>
          <a:bodyPr wrap="square">
            <a:spAutoFit/>
          </a:bodyPr>
          <a:lstStyle/>
          <a:p>
            <a:r>
              <a:rPr lang="en-IN" dirty="0">
                <a:hlinkClick r:id="rId3"/>
              </a:rPr>
              <a:t>https://github.com/PKhadarkhan/Seasonal-Agriculture-Performance-Analysis.git</a:t>
            </a:r>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322EDBCA-B12A-7B67-55B3-5BFE1E0C10C0}"/>
              </a:ext>
            </a:extLst>
          </p:cNvPr>
          <p:cNvPicPr>
            <a:picLocks noChangeAspect="1"/>
          </p:cNvPicPr>
          <p:nvPr/>
        </p:nvPicPr>
        <p:blipFill>
          <a:blip r:embed="rId3"/>
          <a:srcRect l="388"/>
          <a:stretch>
            <a:fillRect/>
          </a:stretch>
        </p:blipFill>
        <p:spPr>
          <a:xfrm>
            <a:off x="1427582" y="1608410"/>
            <a:ext cx="6619425" cy="463336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872288" y="757383"/>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364207" y="2219824"/>
            <a:ext cx="7092718" cy="2422101"/>
          </a:xfrm>
        </p:spPr>
        <p:txBody>
          <a:bodyPr>
            <a:noAutofit/>
          </a:bodyPr>
          <a:lstStyle/>
          <a:p>
            <a:pPr marL="285750" indent="-285750" algn="l">
              <a:buFont typeface="Wingdings" panose="05000000000000000000" pitchFamily="2" charset="2"/>
              <a:buChar char="Ø"/>
            </a:pPr>
            <a:r>
              <a:rPr lang="en-IN" sz="1800" dirty="0">
                <a:solidFill>
                  <a:schemeClr val="tx1"/>
                </a:solidFill>
              </a:rPr>
              <a:t>Seasonal Agriculture Performance Analysis</a:t>
            </a:r>
          </a:p>
          <a:p>
            <a:pPr marL="285750" indent="-285750" algn="l">
              <a:buFont typeface="Wingdings" panose="05000000000000000000" pitchFamily="2" charset="2"/>
              <a:buChar char="Ø"/>
            </a:pPr>
            <a:r>
              <a:rPr lang="en-IN" sz="1800" i="1" dirty="0">
                <a:solidFill>
                  <a:schemeClr val="tx1"/>
                </a:solidFill>
              </a:rPr>
              <a:t>Understanding seasonal patterns, agricultural performance,</a:t>
            </a:r>
            <a:br>
              <a:rPr lang="en-IN" sz="1800" i="1" dirty="0">
                <a:solidFill>
                  <a:schemeClr val="tx1"/>
                </a:solidFill>
              </a:rPr>
            </a:br>
            <a:r>
              <a:rPr lang="en-IN" sz="1800" i="1" dirty="0">
                <a:solidFill>
                  <a:schemeClr val="tx1"/>
                </a:solidFill>
              </a:rPr>
              <a:t>resource usage and data-driven insights</a:t>
            </a:r>
            <a:endParaRPr lang="en-IN" sz="1800" dirty="0">
              <a:solidFill>
                <a:schemeClr val="tx1"/>
              </a:solidFill>
            </a:endParaRPr>
          </a:p>
          <a:p>
            <a:pPr marL="285750" indent="-285750" algn="l">
              <a:buFont typeface="Wingdings" panose="05000000000000000000" pitchFamily="2" charset="2"/>
              <a:buChar char="Ø"/>
            </a:pPr>
            <a:r>
              <a:rPr lang="en-IN" sz="1800" dirty="0">
                <a:solidFill>
                  <a:schemeClr val="tx1"/>
                </a:solidFill>
              </a:rPr>
              <a:t>Presented by:</a:t>
            </a:r>
            <a:br>
              <a:rPr lang="en-IN" sz="1800" dirty="0">
                <a:solidFill>
                  <a:schemeClr val="tx1"/>
                </a:solidFill>
              </a:rPr>
            </a:br>
            <a:r>
              <a:rPr lang="en-IN" sz="1800" dirty="0">
                <a:solidFill>
                  <a:schemeClr val="tx1"/>
                </a:solidFill>
              </a:rPr>
              <a:t>Patan Khadar Khan</a:t>
            </a:r>
            <a:br>
              <a:rPr lang="en-IN" sz="1800" dirty="0">
                <a:solidFill>
                  <a:schemeClr val="tx1"/>
                </a:solidFill>
              </a:rPr>
            </a:br>
            <a:r>
              <a:rPr lang="en-IN" sz="1800" dirty="0">
                <a:solidFill>
                  <a:schemeClr val="tx1"/>
                </a:solidFill>
              </a:rPr>
              <a:t>Raghu Engineering College</a:t>
            </a:r>
          </a:p>
          <a:p>
            <a:pPr marL="285750" indent="-285750" algn="l">
              <a:buFont typeface="Wingdings" panose="05000000000000000000" pitchFamily="2" charset="2"/>
              <a:buChar char="Ø"/>
            </a:pPr>
            <a:endParaRPr lang="en-IN" sz="1800" dirty="0">
              <a:solidFill>
                <a:schemeClr val="tx1"/>
              </a:solidFill>
            </a:endParaRP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80">
                                          <p:stCondLst>
                                            <p:cond delay="0"/>
                                          </p:stCondLst>
                                        </p:cTn>
                                        <p:tgtEl>
                                          <p:spTgt spid="3"/>
                                        </p:tgtEl>
                                      </p:cBhvr>
                                    </p:animEffect>
                                    <p:anim calcmode="lin" valueType="num">
                                      <p:cBhvr>
                                        <p:cTn id="8"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gtEl>
                                      </p:cBhvr>
                                      <p:to x="100000" y="60000"/>
                                    </p:animScale>
                                    <p:animScale>
                                      <p:cBhvr>
                                        <p:cTn id="14" dur="166" decel="50000">
                                          <p:stCondLst>
                                            <p:cond delay="676"/>
                                          </p:stCondLst>
                                        </p:cTn>
                                        <p:tgtEl>
                                          <p:spTgt spid="3"/>
                                        </p:tgtEl>
                                      </p:cBhvr>
                                      <p:to x="100000" y="100000"/>
                                    </p:animScale>
                                    <p:animScale>
                                      <p:cBhvr>
                                        <p:cTn id="15" dur="26">
                                          <p:stCondLst>
                                            <p:cond delay="1312"/>
                                          </p:stCondLst>
                                        </p:cTn>
                                        <p:tgtEl>
                                          <p:spTgt spid="3"/>
                                        </p:tgtEl>
                                      </p:cBhvr>
                                      <p:to x="100000" y="80000"/>
                                    </p:animScale>
                                    <p:animScale>
                                      <p:cBhvr>
                                        <p:cTn id="16" dur="166" decel="50000">
                                          <p:stCondLst>
                                            <p:cond delay="1338"/>
                                          </p:stCondLst>
                                        </p:cTn>
                                        <p:tgtEl>
                                          <p:spTgt spid="3"/>
                                        </p:tgtEl>
                                      </p:cBhvr>
                                      <p:to x="100000" y="100000"/>
                                    </p:animScale>
                                    <p:animScale>
                                      <p:cBhvr>
                                        <p:cTn id="17" dur="26">
                                          <p:stCondLst>
                                            <p:cond delay="1642"/>
                                          </p:stCondLst>
                                        </p:cTn>
                                        <p:tgtEl>
                                          <p:spTgt spid="3"/>
                                        </p:tgtEl>
                                      </p:cBhvr>
                                      <p:to x="100000" y="90000"/>
                                    </p:animScale>
                                    <p:animScale>
                                      <p:cBhvr>
                                        <p:cTn id="18" dur="166" decel="50000">
                                          <p:stCondLst>
                                            <p:cond delay="1668"/>
                                          </p:stCondLst>
                                        </p:cTn>
                                        <p:tgtEl>
                                          <p:spTgt spid="3"/>
                                        </p:tgtEl>
                                      </p:cBhvr>
                                      <p:to x="100000" y="100000"/>
                                    </p:animScale>
                                    <p:animScale>
                                      <p:cBhvr>
                                        <p:cTn id="19" dur="26">
                                          <p:stCondLst>
                                            <p:cond delay="1808"/>
                                          </p:stCondLst>
                                        </p:cTn>
                                        <p:tgtEl>
                                          <p:spTgt spid="3"/>
                                        </p:tgtEl>
                                      </p:cBhvr>
                                      <p:to x="100000" y="95000"/>
                                    </p:animScale>
                                    <p:animScale>
                                      <p:cBhvr>
                                        <p:cTn id="20" dur="166" decel="50000">
                                          <p:stCondLst>
                                            <p:cond delay="1834"/>
                                          </p:stCondLst>
                                        </p:cTn>
                                        <p:tgtEl>
                                          <p:spTgt spid="3"/>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2" presetClass="entr" presetSubtype="4" fill="hold" grpId="0" nodeType="clickEffect" nodePh="1">
                                  <p:stCondLst>
                                    <p:cond delay="0"/>
                                  </p:stCondLst>
                                  <p:endCondLst>
                                    <p:cond evt="begin" delay="0">
                                      <p:tn val="23"/>
                                    </p:cond>
                                  </p:end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p:tgtEl>
                                          <p:spTgt spid="17"/>
                                        </p:tgtEl>
                                        <p:attrNameLst>
                                          <p:attrName>ppt_y</p:attrName>
                                        </p:attrNameLst>
                                      </p:cBhvr>
                                      <p:tavLst>
                                        <p:tav tm="0">
                                          <p:val>
                                            <p:strVal val="#ppt_y+#ppt_h*1.125000"/>
                                          </p:val>
                                        </p:tav>
                                        <p:tav tm="100000">
                                          <p:val>
                                            <p:strVal val="#ppt_y"/>
                                          </p:val>
                                        </p:tav>
                                      </p:tavLst>
                                    </p:anim>
                                    <p:animEffect transition="in" filter="wipe(up)">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p:stCondLst>
                                    <p:cond delay="0"/>
                                  </p:stCondLst>
                                  <p:childTnLst>
                                    <p:set>
                                      <p:cBhvr>
                                        <p:cTn id="30" dur="1" fill="hold">
                                          <p:stCondLst>
                                            <p:cond delay="0"/>
                                          </p:stCondLst>
                                        </p:cTn>
                                        <p:tgtEl>
                                          <p:spTgt spid="31">
                                            <p:txEl>
                                              <p:pRg st="0" end="0"/>
                                            </p:txEl>
                                          </p:spTgt>
                                        </p:tgtEl>
                                        <p:attrNameLst>
                                          <p:attrName>style.visibility</p:attrName>
                                        </p:attrNameLst>
                                      </p:cBhvr>
                                      <p:to>
                                        <p:strVal val="visible"/>
                                      </p:to>
                                    </p:set>
                                    <p:anim calcmode="lin" valueType="num">
                                      <p:cBhvr additive="base">
                                        <p:cTn id="31"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32" dur="500"/>
                                        <p:tgtEl>
                                          <p:spTgt spid="3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nodePh="1">
                                  <p:stCondLst>
                                    <p:cond delay="0"/>
                                  </p:stCondLst>
                                  <p:endCondLst>
                                    <p:cond evt="begin" delay="0">
                                      <p:tn val="35"/>
                                    </p:cond>
                                  </p:endCondLst>
                                  <p:childTnLst>
                                    <p:set>
                                      <p:cBhvr>
                                        <p:cTn id="36" dur="1" fill="hold">
                                          <p:stCondLst>
                                            <p:cond delay="0"/>
                                          </p:stCondLst>
                                        </p:cTn>
                                        <p:tgtEl>
                                          <p:spTgt spid="20"/>
                                        </p:tgtEl>
                                        <p:attrNameLst>
                                          <p:attrName>style.visibility</p:attrName>
                                        </p:attrNameLst>
                                      </p:cBhvr>
                                      <p:to>
                                        <p:strVal val="visible"/>
                                      </p:to>
                                    </p:set>
                                    <p:anim calcmode="lin" valueType="num">
                                      <p:cBhvr additive="base">
                                        <p:cTn id="37" dur="500"/>
                                        <p:tgtEl>
                                          <p:spTgt spid="20"/>
                                        </p:tgtEl>
                                        <p:attrNameLst>
                                          <p:attrName>ppt_y</p:attrName>
                                        </p:attrNameLst>
                                      </p:cBhvr>
                                      <p:tavLst>
                                        <p:tav tm="0">
                                          <p:val>
                                            <p:strVal val="#ppt_y+#ppt_h*1.125000"/>
                                          </p:val>
                                        </p:tav>
                                        <p:tav tm="100000">
                                          <p:val>
                                            <p:strVal val="#ppt_y"/>
                                          </p:val>
                                        </p:tav>
                                      </p:tavLst>
                                    </p:anim>
                                    <p:animEffect transition="in" filter="wipe(up)">
                                      <p:cBhvr>
                                        <p:cTn id="38" dur="50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12" presetClass="entr" presetSubtype="4" fill="hold" grpId="0" nodeType="clickEffect" nodePh="1">
                                  <p:stCondLst>
                                    <p:cond delay="0"/>
                                  </p:stCondLst>
                                  <p:endCondLst>
                                    <p:cond evt="begin" delay="0">
                                      <p:tn val="41"/>
                                    </p:cond>
                                  </p:endCondLst>
                                  <p:childTnLst>
                                    <p:set>
                                      <p:cBhvr>
                                        <p:cTn id="42" dur="1" fill="hold">
                                          <p:stCondLst>
                                            <p:cond delay="0"/>
                                          </p:stCondLst>
                                        </p:cTn>
                                        <p:tgtEl>
                                          <p:spTgt spid="30"/>
                                        </p:tgtEl>
                                        <p:attrNameLst>
                                          <p:attrName>style.visibility</p:attrName>
                                        </p:attrNameLst>
                                      </p:cBhvr>
                                      <p:to>
                                        <p:strVal val="visible"/>
                                      </p:to>
                                    </p:set>
                                    <p:anim calcmode="lin" valueType="num">
                                      <p:cBhvr additive="base">
                                        <p:cTn id="43" dur="500"/>
                                        <p:tgtEl>
                                          <p:spTgt spid="30"/>
                                        </p:tgtEl>
                                        <p:attrNameLst>
                                          <p:attrName>ppt_y</p:attrName>
                                        </p:attrNameLst>
                                      </p:cBhvr>
                                      <p:tavLst>
                                        <p:tav tm="0">
                                          <p:val>
                                            <p:strVal val="#ppt_y+#ppt_h*1.125000"/>
                                          </p:val>
                                        </p:tav>
                                        <p:tav tm="100000">
                                          <p:val>
                                            <p:strVal val="#ppt_y"/>
                                          </p:val>
                                        </p:tav>
                                      </p:tavLst>
                                    </p:anim>
                                    <p:animEffect transition="in" filter="wipe(up)">
                                      <p:cBhvr>
                                        <p:cTn id="44" dur="5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2" presetClass="entr" presetSubtype="4" fill="hold" grpId="0" nodeType="clickEffect" nodePh="1">
                                  <p:stCondLst>
                                    <p:cond delay="0"/>
                                  </p:stCondLst>
                                  <p:endCondLst>
                                    <p:cond evt="begin" delay="0">
                                      <p:tn val="47"/>
                                    </p:cond>
                                  </p:endCondLst>
                                  <p:childTnLst>
                                    <p:set>
                                      <p:cBhvr>
                                        <p:cTn id="48" dur="1" fill="hold">
                                          <p:stCondLst>
                                            <p:cond delay="0"/>
                                          </p:stCondLst>
                                        </p:cTn>
                                        <p:tgtEl>
                                          <p:spTgt spid="23"/>
                                        </p:tgtEl>
                                        <p:attrNameLst>
                                          <p:attrName>style.visibility</p:attrName>
                                        </p:attrNameLst>
                                      </p:cBhvr>
                                      <p:to>
                                        <p:strVal val="visible"/>
                                      </p:to>
                                    </p:set>
                                    <p:anim calcmode="lin" valueType="num">
                                      <p:cBhvr additive="base">
                                        <p:cTn id="49" dur="500"/>
                                        <p:tgtEl>
                                          <p:spTgt spid="23"/>
                                        </p:tgtEl>
                                        <p:attrNameLst>
                                          <p:attrName>ppt_y</p:attrName>
                                        </p:attrNameLst>
                                      </p:cBhvr>
                                      <p:tavLst>
                                        <p:tav tm="0">
                                          <p:val>
                                            <p:strVal val="#ppt_y+#ppt_h*1.125000"/>
                                          </p:val>
                                        </p:tav>
                                        <p:tav tm="100000">
                                          <p:val>
                                            <p:strVal val="#ppt_y"/>
                                          </p:val>
                                        </p:tav>
                                      </p:tavLst>
                                    </p:anim>
                                    <p:animEffect transition="in" filter="wipe(up)">
                                      <p:cBhvr>
                                        <p:cTn id="50" dur="500"/>
                                        <p:tgtEl>
                                          <p:spTgt spid="23"/>
                                        </p:tgtEl>
                                      </p:cBhvr>
                                    </p:animEffect>
                                  </p:childTnLst>
                                </p:cTn>
                              </p:par>
                            </p:childTnLst>
                          </p:cTn>
                        </p:par>
                      </p:childTnLst>
                    </p:cTn>
                  </p:par>
                  <p:par>
                    <p:cTn id="51" fill="hold">
                      <p:stCondLst>
                        <p:cond delay="indefinite"/>
                      </p:stCondLst>
                      <p:childTnLst>
                        <p:par>
                          <p:cTn id="52" fill="hold">
                            <p:stCondLst>
                              <p:cond delay="0"/>
                            </p:stCondLst>
                            <p:childTnLst>
                              <p:par>
                                <p:cTn id="53" presetID="12" presetClass="entr" presetSubtype="4" fill="hold" grpId="0" nodeType="clickEffect">
                                  <p:stCondLst>
                                    <p:cond delay="0"/>
                                  </p:stCondLst>
                                  <p:childTnLst>
                                    <p:set>
                                      <p:cBhvr>
                                        <p:cTn id="54" dur="1" fill="hold">
                                          <p:stCondLst>
                                            <p:cond delay="0"/>
                                          </p:stCondLst>
                                        </p:cTn>
                                        <p:tgtEl>
                                          <p:spTgt spid="32"/>
                                        </p:tgtEl>
                                        <p:attrNameLst>
                                          <p:attrName>style.visibility</p:attrName>
                                        </p:attrNameLst>
                                      </p:cBhvr>
                                      <p:to>
                                        <p:strVal val="visible"/>
                                      </p:to>
                                    </p:set>
                                    <p:anim calcmode="lin" valueType="num">
                                      <p:cBhvr additive="base">
                                        <p:cTn id="55" dur="500"/>
                                        <p:tgtEl>
                                          <p:spTgt spid="32"/>
                                        </p:tgtEl>
                                        <p:attrNameLst>
                                          <p:attrName>ppt_y</p:attrName>
                                        </p:attrNameLst>
                                      </p:cBhvr>
                                      <p:tavLst>
                                        <p:tav tm="0">
                                          <p:val>
                                            <p:strVal val="#ppt_y+#ppt_h*1.125000"/>
                                          </p:val>
                                        </p:tav>
                                        <p:tav tm="100000">
                                          <p:val>
                                            <p:strVal val="#ppt_y"/>
                                          </p:val>
                                        </p:tav>
                                      </p:tavLst>
                                    </p:anim>
                                    <p:animEffect transition="in" filter="wipe(up)">
                                      <p:cBhvr>
                                        <p:cTn id="56" dur="500"/>
                                        <p:tgtEl>
                                          <p:spTgt spid="32"/>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2">
                                            <p:txEl>
                                              <p:pRg st="0" end="0"/>
                                            </p:txEl>
                                          </p:spTgt>
                                        </p:tgtEl>
                                        <p:attrNameLst>
                                          <p:attrName>style.visibility</p:attrName>
                                        </p:attrNameLst>
                                      </p:cBhvr>
                                      <p:to>
                                        <p:strVal val="visible"/>
                                      </p:to>
                                    </p:set>
                                    <p:anim calcmode="lin" valueType="num">
                                      <p:cBhvr additive="base">
                                        <p:cTn id="61"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12">
                                            <p:txEl>
                                              <p:pRg st="1" end="1"/>
                                            </p:txEl>
                                          </p:spTgt>
                                        </p:tgtEl>
                                        <p:attrNameLst>
                                          <p:attrName>style.visibility</p:attrName>
                                        </p:attrNameLst>
                                      </p:cBhvr>
                                      <p:to>
                                        <p:strVal val="visible"/>
                                      </p:to>
                                    </p:set>
                                    <p:anim calcmode="lin" valueType="num">
                                      <p:cBhvr additive="base">
                                        <p:cTn id="67" dur="500" fill="hold"/>
                                        <p:tgtEl>
                                          <p:spTgt spid="12">
                                            <p:txEl>
                                              <p:pRg st="1" end="1"/>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1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12">
                                            <p:txEl>
                                              <p:pRg st="2" end="2"/>
                                            </p:txEl>
                                          </p:spTgt>
                                        </p:tgtEl>
                                        <p:attrNameLst>
                                          <p:attrName>style.visibility</p:attrName>
                                        </p:attrNameLst>
                                      </p:cBhvr>
                                      <p:to>
                                        <p:strVal val="visible"/>
                                      </p:to>
                                    </p:set>
                                    <p:anim calcmode="lin" valueType="num">
                                      <p:cBhvr additive="base">
                                        <p:cTn id="73" dur="500" fill="hold"/>
                                        <p:tgtEl>
                                          <p:spTgt spid="12">
                                            <p:txEl>
                                              <p:pRg st="2" end="2"/>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1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P spid="12" grpId="0" build="p"/>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1388</TotalTime>
  <Words>458</Words>
  <Application>Microsoft Office PowerPoint</Application>
  <PresentationFormat>Widescreen</PresentationFormat>
  <Paragraphs>49</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khadar khan</cp:lastModifiedBy>
  <cp:revision>102</cp:revision>
  <dcterms:created xsi:type="dcterms:W3CDTF">2021-07-11T13:13:15Z</dcterms:created>
  <dcterms:modified xsi:type="dcterms:W3CDTF">2026-09-08T15:22:37Z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
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9/8/2026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9/8/2026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9/8/2026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9/8/2026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9/8/2026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1260411" y="3456168"/>
            <a:ext cx="5382986" cy="861497"/>
          </a:xfrm>
        </p:spPr>
        <p:txBody>
          <a:bodyPr vert="horz" lIns="91440" tIns="45720" rIns="91440" bIns="45720" rtlCol="0" anchor="t">
            <a:normAutofit/>
          </a:bodyPr>
          <a:lstStyle/>
          <a:p>
            <a:r>
              <a:rPr lang="en-US" dirty="0">
                <a:solidFill>
                  <a:schemeClr val="tx1"/>
                </a:solidFill>
              </a:rPr>
              <a:t>Name:</a:t>
            </a:r>
            <a:r>
              <a:rPr lang="en-US" b="0" dirty="0">
                <a:solidFill>
                  <a:schemeClr val="tx1"/>
                </a:solidFill>
              </a:rPr>
              <a:t> PATAN KHADAR KHAN </a:t>
            </a:r>
            <a:endParaRPr lang="en-IN" b="0" dirty="0">
              <a:solidFill>
                <a:schemeClr val="tx1"/>
              </a:solidFill>
            </a:endParaRPr>
          </a:p>
          <a:p>
            <a:r>
              <a:rPr lang="en-US" dirty="0">
                <a:solidFill>
                  <a:schemeClr val="tx1"/>
                </a:solidFill>
              </a:rPr>
              <a:t>College Name:</a:t>
            </a:r>
            <a:r>
              <a:rPr lang="en-US" b="0" dirty="0">
                <a:solidFill>
                  <a:schemeClr val="tx1"/>
                </a:solidFill>
              </a:rPr>
              <a:t> Raghu Engineering College</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5957" y="2718530"/>
            <a:ext cx="4998720" cy="743448"/>
          </a:xfrm>
        </p:spPr>
        <p:txBody>
          <a:bodyPr wrap="square" lIns="18288" tIns="18288" rIns="18288" bIns="18288">
            <a:normAutofit/>
          </a:bodyPr>
          <a:lstStyle/>
          <a:p>
            <a:r>
              <a:rPr sz="3200" dirty="0"/>
              <a:t>Project Title -</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3470987" y="2794001"/>
            <a:ext cx="8276253" cy="861497"/>
          </a:xfrm>
          <a:prstGeom prst="rect">
            <a:avLst/>
          </a:prstGeom>
        </p:spPr>
        <p:txBody>
          <a:bodyPr vert="horz" wrap="square" lIns="18288" tIns="18288" rIns="18288" bIns="18288"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sz="2400" b="1" dirty="0"/>
              <a:t>Seasonal Agriculture</a:t>
            </a:r>
            <a:r>
              <a:rPr lang="en-US" sz="2400" b="1" dirty="0"/>
              <a:t> </a:t>
            </a:r>
            <a:r>
              <a:rPr sz="2400" b="1" dirty="0"/>
              <a:t>Performance Analysis</a:t>
            </a:r>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57406" y="4576469"/>
            <a:ext cx="6236496" cy="369332"/>
          </a:xfrm>
          <a:prstGeom prst="rect">
            <a:avLst/>
          </a:prstGeom>
          <a:noFill/>
        </p:spPr>
        <p:txBody>
          <a:bodyPr wrap="square" rtlCol="0">
            <a:spAutoFit/>
          </a:bodyPr>
          <a:lstStyle/>
          <a:p>
            <a:r>
              <a:rPr lang="en-US" b="1" dirty="0"/>
              <a:t>AICTE STU ID : </a:t>
            </a:r>
            <a:r>
              <a:rPr lang="en-IN" dirty="0"/>
              <a:t>STU68fa3fb46a7001761230772</a:t>
            </a:r>
            <a:endParaRPr lang="en-US"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36764" y="2304764"/>
            <a:ext cx="6431280" cy="3607987"/>
          </a:xfrm>
        </p:spPr>
        <p:txBody>
          <a:bodyPr vert="horz" wrap="square" lIns="18288" tIns="18288" rIns="18288" bIns="18288" rtlCol="0" anchor="t">
            <a:normAutofit/>
          </a:bodyPr>
          <a:lstStyle/>
          <a:p>
            <a:pPr>
              <a:lnSpc>
                <a:spcPct val="100000"/>
              </a:lnSpc>
            </a:pPr>
            <a:r>
              <a:rPr sz="2000" dirty="0">
                <a:solidFill>
                  <a:srgbClr val="3C3C3C"/>
                </a:solidFill>
              </a:rPr>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project analyzes the given agricultural dataset to identify meaningful seasonal patterns, trends, relationships and variations.</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558659" y="955484"/>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10" name="TextBox 9"/>
          <p:cNvSpPr txBox="1"/>
          <p:nvPr/>
        </p:nvSpPr>
        <p:spPr>
          <a:xfrm>
            <a:off x="644432" y="2219960"/>
            <a:ext cx="7909560" cy="4251960"/>
          </a:xfrm>
          <a:prstGeom prst="rect">
            <a:avLst/>
          </a:prstGeom>
          <a:noFill/>
        </p:spPr>
        <p:txBody>
          <a:bodyPr wrap="square" lIns="45720" tIns="27432" rIns="45720" bIns="27432">
            <a:spAutoFit/>
          </a:bodyPr>
          <a:lstStyle/>
          <a:p>
            <a:pPr algn="l"/>
            <a:r>
              <a:rPr lang="en-US" sz="1900" b="0" dirty="0">
                <a:solidFill>
                  <a:srgbClr val="282828"/>
                </a:solidFill>
              </a:rPr>
              <a:t>Seasonal Agriculture Performance Analysis studies farm-level agricultural records across Kharif, Rabi and Zaid seasons. The analysis examines environmental conditions, farming practices, resource usage, production, profitability and irrigation. The notebook performs data exploration and cleaning, descriptive statistics, univariate, bivariate and multivariate analysis, outlier review, seasonal comparisons, group comparisons and a Kruskal-Wallis test. The purpose is to understand how agricultural performance changes across seasons and to communicate evidence-based findings.</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721359" y="1057671"/>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17" name="TextBox 16"/>
          <p:cNvSpPr txBox="1"/>
          <p:nvPr/>
        </p:nvSpPr>
        <p:spPr>
          <a:xfrm>
            <a:off x="812696" y="1958023"/>
            <a:ext cx="7406640" cy="4023360"/>
          </a:xfrm>
          <a:prstGeom prst="rect">
            <a:avLst/>
          </a:prstGeom>
          <a:noFill/>
        </p:spPr>
        <p:txBody>
          <a:bodyPr wrap="square" lIns="54864" tIns="36576" rIns="54864" bIns="36576">
            <a:spAutoFit/>
          </a:bodyPr>
          <a:lstStyle/>
          <a:p>
            <a:pPr>
              <a:spcAft>
                <a:spcPts val="700"/>
              </a:spcAft>
              <a:defRPr sz="1900">
                <a:solidFill>
                  <a:srgbClr val="232323"/>
                </a:solidFill>
              </a:defRPr>
            </a:pPr>
            <a:r>
              <a:rPr dirty="0"/>
              <a:t>Farmers and </a:t>
            </a:r>
            <a:r>
              <a:rPr lang="en-IN" dirty="0"/>
              <a:t>f</a:t>
            </a:r>
            <a:r>
              <a:rPr dirty="0"/>
              <a:t>arm managers – for comparing seasonal performance.</a:t>
            </a:r>
          </a:p>
          <a:p>
            <a:pPr>
              <a:spcAft>
                <a:spcPts val="700"/>
              </a:spcAft>
              <a:defRPr sz="1900">
                <a:solidFill>
                  <a:srgbClr val="232323"/>
                </a:solidFill>
              </a:defRPr>
            </a:pPr>
            <a:r>
              <a:rPr dirty="0"/>
              <a:t>Agricultural analysts and planners – for identifying seasonal patterns and differences.</a:t>
            </a:r>
          </a:p>
          <a:p>
            <a:pPr>
              <a:spcAft>
                <a:spcPts val="700"/>
              </a:spcAft>
              <a:defRPr sz="1900">
                <a:solidFill>
                  <a:srgbClr val="232323"/>
                </a:solidFill>
              </a:defRPr>
            </a:pPr>
            <a:r>
              <a:rPr dirty="0"/>
              <a:t>Irrigation and resource managers – for reviewing water use and efficiency.</a:t>
            </a:r>
          </a:p>
          <a:p>
            <a:pPr>
              <a:spcAft>
                <a:spcPts val="700"/>
              </a:spcAft>
              <a:defRPr sz="1900">
                <a:solidFill>
                  <a:srgbClr val="232323"/>
                </a:solidFill>
              </a:defRPr>
            </a:pPr>
            <a:r>
              <a:rPr dirty="0"/>
              <a:t>Agricultural researchers and students – for evidence-based seasonal analysis.</a:t>
            </a:r>
          </a:p>
          <a:p>
            <a:pPr>
              <a:spcAft>
                <a:spcPts val="700"/>
              </a:spcAft>
              <a:defRPr sz="1900">
                <a:solidFill>
                  <a:srgbClr val="232323"/>
                </a:solidFill>
              </a:defRPr>
            </a:pPr>
            <a:r>
              <a:rPr dirty="0"/>
              <a:t>Decision-makers – for using data-driven seasonal insights in planning.</a:t>
            </a:r>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
        <p:nvSpPr>
          <p:cNvPr id="17" name="TextBox 16"/>
          <p:cNvSpPr txBox="1"/>
          <p:nvPr/>
        </p:nvSpPr>
        <p:spPr>
          <a:xfrm>
            <a:off x="914400" y="1600200"/>
            <a:ext cx="7909560" cy="4389120"/>
          </a:xfrm>
          <a:prstGeom prst="rect">
            <a:avLst/>
          </a:prstGeom>
          <a:noFill/>
        </p:spPr>
        <p:txBody>
          <a:bodyPr wrap="square" lIns="54864" tIns="36576" rIns="54864" bIns="36576">
            <a:spAutoFit/>
          </a:bodyPr>
          <a:lstStyle/>
          <a:p>
            <a:pPr>
              <a:spcAft>
                <a:spcPts val="700"/>
              </a:spcAft>
              <a:defRPr sz="2400">
                <a:solidFill>
                  <a:srgbClr val="232323"/>
                </a:solidFill>
              </a:defRPr>
            </a:pPr>
            <a:r>
              <a:t>Python</a:t>
            </a:r>
          </a:p>
          <a:p>
            <a:pPr>
              <a:spcAft>
                <a:spcPts val="700"/>
              </a:spcAft>
              <a:defRPr sz="2400">
                <a:solidFill>
                  <a:srgbClr val="232323"/>
                </a:solidFill>
              </a:defRPr>
            </a:pPr>
            <a:r>
              <a:t>Pandas and NumPy</a:t>
            </a:r>
          </a:p>
          <a:p>
            <a:pPr>
              <a:spcAft>
                <a:spcPts val="700"/>
              </a:spcAft>
              <a:defRPr sz="2400">
                <a:solidFill>
                  <a:srgbClr val="232323"/>
                </a:solidFill>
              </a:defRPr>
            </a:pPr>
            <a:r>
              <a:t>Matplotlib and Seaborn</a:t>
            </a:r>
          </a:p>
          <a:p>
            <a:pPr>
              <a:spcAft>
                <a:spcPts val="700"/>
              </a:spcAft>
              <a:defRPr sz="2400">
                <a:solidFill>
                  <a:srgbClr val="232323"/>
                </a:solidFill>
              </a:defRPr>
            </a:pPr>
            <a:r>
              <a:t>SciPy (Kruskal-Wallis test)</a:t>
            </a:r>
          </a:p>
          <a:p>
            <a:pPr>
              <a:spcAft>
                <a:spcPts val="700"/>
              </a:spcAft>
              <a:defRPr sz="2400">
                <a:solidFill>
                  <a:srgbClr val="232323"/>
                </a:solidFill>
              </a:defRPr>
            </a:pPr>
            <a:r>
              <a:t>Google Colab / Jupyter Notebook</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wrap="square" lIns="18288" tIns="18288" rIns="18288" bIns="18288"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wrap="square" lIns="18288" tIns="18288" rIns="18288" bIns="18288"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1D784E4A-02D5-9F7E-C9D1-BF30650C0211}"/>
              </a:ext>
            </a:extLst>
          </p:cNvPr>
          <p:cNvPicPr>
            <a:picLocks noChangeAspect="1"/>
          </p:cNvPicPr>
          <p:nvPr/>
        </p:nvPicPr>
        <p:blipFill>
          <a:blip r:embed="rId3"/>
          <a:stretch>
            <a:fillRect/>
          </a:stretch>
        </p:blipFill>
        <p:spPr>
          <a:xfrm>
            <a:off x="1262328" y="1201586"/>
            <a:ext cx="7030044" cy="5365102"/>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1" name="Picture 30" descr="cell42_out0.png"/>
          <p:cNvPicPr>
            <a:picLocks noChangeAspect="1"/>
          </p:cNvPicPr>
          <p:nvPr/>
        </p:nvPicPr>
        <p:blipFill>
          <a:blip r:embed="rId3"/>
          <a:stretch>
            <a:fillRect/>
          </a:stretch>
        </p:blipFill>
        <p:spPr>
          <a:xfrm>
            <a:off x="868680" y="1417320"/>
            <a:ext cx="6949440" cy="4297680"/>
          </a:xfrm>
          <a:prstGeom prst="rect">
            <a:avLst/>
          </a:prstGeom>
        </p:spPr>
      </p:pic>
      <p:sp>
        <p:nvSpPr>
          <p:cNvPr id="32" name="TextBox 31"/>
          <p:cNvSpPr txBox="1"/>
          <p:nvPr/>
        </p:nvSpPr>
        <p:spPr>
          <a:xfrm>
            <a:off x="868680" y="5742432"/>
            <a:ext cx="7406640" cy="502920"/>
          </a:xfrm>
          <a:prstGeom prst="rect">
            <a:avLst/>
          </a:prstGeom>
          <a:noFill/>
        </p:spPr>
        <p:txBody>
          <a:bodyPr wrap="square" lIns="45720" tIns="27432" rIns="45720" bIns="27432">
            <a:spAutoFit/>
          </a:bodyPr>
          <a:lstStyle/>
          <a:p>
            <a:pPr algn="l"/>
            <a:r>
              <a:rPr sz="1400" b="1">
                <a:solidFill>
                  <a:srgbClr val="2D2D2D"/>
                </a:solidFill>
              </a:rPr>
              <a:t>Yield is highest on average in Kharif, followed by Rabi and Zaid.</a:t>
            </a:r>
          </a:p>
        </p:txBody>
      </p:sp>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1" name="Picture 30" descr="cell45_out0.png"/>
          <p:cNvPicPr>
            <a:picLocks noChangeAspect="1"/>
          </p:cNvPicPr>
          <p:nvPr/>
        </p:nvPicPr>
        <p:blipFill>
          <a:blip r:embed="rId3"/>
          <a:stretch>
            <a:fillRect/>
          </a:stretch>
        </p:blipFill>
        <p:spPr>
          <a:xfrm>
            <a:off x="868680" y="1417320"/>
            <a:ext cx="6949440" cy="4297680"/>
          </a:xfrm>
          <a:prstGeom prst="rect">
            <a:avLst/>
          </a:prstGeom>
        </p:spPr>
      </p:pic>
      <p:sp>
        <p:nvSpPr>
          <p:cNvPr id="32" name="TextBox 31"/>
          <p:cNvSpPr txBox="1"/>
          <p:nvPr/>
        </p:nvSpPr>
        <p:spPr>
          <a:xfrm>
            <a:off x="868680" y="5742432"/>
            <a:ext cx="7406640" cy="502920"/>
          </a:xfrm>
          <a:prstGeom prst="rect">
            <a:avLst/>
          </a:prstGeom>
          <a:noFill/>
        </p:spPr>
        <p:txBody>
          <a:bodyPr wrap="square" lIns="45720" tIns="27432" rIns="45720" bIns="27432">
            <a:spAutoFit/>
          </a:bodyPr>
          <a:lstStyle/>
          <a:p>
            <a:pPr algn="l"/>
            <a:r>
              <a:rPr sz="1400" b="1">
                <a:solidFill>
                  <a:srgbClr val="2D2D2D"/>
                </a:solidFill>
              </a:rPr>
              <a:t>Rabi uses the least water on average, while Zaid has the highest average water use.</a:t>
            </a:r>
          </a:p>
        </p:txBody>
      </p:sp>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1" name="Picture 30" descr="cell61_out1.png"/>
          <p:cNvPicPr>
            <a:picLocks noChangeAspect="1"/>
          </p:cNvPicPr>
          <p:nvPr/>
        </p:nvPicPr>
        <p:blipFill>
          <a:blip r:embed="rId3"/>
          <a:stretch>
            <a:fillRect/>
          </a:stretch>
        </p:blipFill>
        <p:spPr>
          <a:xfrm>
            <a:off x="868680" y="1417320"/>
            <a:ext cx="6949440" cy="4297680"/>
          </a:xfrm>
          <a:prstGeom prst="rect">
            <a:avLst/>
          </a:prstGeom>
        </p:spPr>
      </p:pic>
      <p:sp>
        <p:nvSpPr>
          <p:cNvPr id="32" name="TextBox 31"/>
          <p:cNvSpPr txBox="1"/>
          <p:nvPr/>
        </p:nvSpPr>
        <p:spPr>
          <a:xfrm>
            <a:off x="868680" y="5742432"/>
            <a:ext cx="7406640" cy="502920"/>
          </a:xfrm>
          <a:prstGeom prst="rect">
            <a:avLst/>
          </a:prstGeom>
          <a:noFill/>
        </p:spPr>
        <p:txBody>
          <a:bodyPr wrap="square" lIns="45720" tIns="27432" rIns="45720" bIns="27432">
            <a:spAutoFit/>
          </a:bodyPr>
          <a:lstStyle/>
          <a:p>
            <a:pPr algn="l"/>
            <a:r>
              <a:rPr sz="1400" b="1">
                <a:solidFill>
                  <a:srgbClr val="2D2D2D"/>
                </a:solidFill>
              </a:rPr>
              <a:t>Sugarcane is the highest-yielding crop in all three seasons in the executed analysis.</a:t>
            </a:r>
          </a:p>
        </p:txBody>
      </p:sp>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1" name="Picture 30" descr="cell63_out1.png"/>
          <p:cNvPicPr>
            <a:picLocks noChangeAspect="1"/>
          </p:cNvPicPr>
          <p:nvPr/>
        </p:nvPicPr>
        <p:blipFill>
          <a:blip r:embed="rId3"/>
          <a:stretch>
            <a:fillRect/>
          </a:stretch>
        </p:blipFill>
        <p:spPr>
          <a:xfrm>
            <a:off x="868680" y="1417320"/>
            <a:ext cx="6949440" cy="4297680"/>
          </a:xfrm>
          <a:prstGeom prst="rect">
            <a:avLst/>
          </a:prstGeom>
        </p:spPr>
      </p:pic>
      <p:sp>
        <p:nvSpPr>
          <p:cNvPr id="32" name="TextBox 31"/>
          <p:cNvSpPr txBox="1"/>
          <p:nvPr/>
        </p:nvSpPr>
        <p:spPr>
          <a:xfrm>
            <a:off x="868680" y="5742432"/>
            <a:ext cx="7406640" cy="502920"/>
          </a:xfrm>
          <a:prstGeom prst="rect">
            <a:avLst/>
          </a:prstGeom>
          <a:noFill/>
        </p:spPr>
        <p:txBody>
          <a:bodyPr wrap="square" lIns="45720" tIns="27432" rIns="45720" bIns="27432">
            <a:spAutoFit/>
          </a:bodyPr>
          <a:lstStyle/>
          <a:p>
            <a:pPr algn="l"/>
            <a:r>
              <a:rPr sz="1400" b="1">
                <a:solidFill>
                  <a:srgbClr val="2D2D2D"/>
                </a:solidFill>
              </a:rPr>
              <a:t>Rainfed has the highest average water efficiency, while Drip has the highest average yield among irrigation methods.</a:t>
            </a:r>
          </a:p>
        </p:txBody>
      </p:sp>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937214" y="949087"/>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wrap="square" lIns="18288" tIns="18288" rIns="18288" bIns="18288"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wrap="square" lIns="18288" tIns="18288" rIns="18288" bIns="18288"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4" name="TextBox 23"/>
          <p:cNvSpPr txBox="1"/>
          <p:nvPr/>
        </p:nvSpPr>
        <p:spPr>
          <a:xfrm>
            <a:off x="508518" y="2071924"/>
            <a:ext cx="8138160" cy="3510705"/>
          </a:xfrm>
          <a:prstGeom prst="rect">
            <a:avLst/>
          </a:prstGeom>
          <a:noFill/>
        </p:spPr>
        <p:txBody>
          <a:bodyPr wrap="square" lIns="54864" tIns="36576" rIns="54864" bIns="36576">
            <a:spAutoFit/>
          </a:bodyPr>
          <a:lstStyle/>
          <a:p>
            <a:pPr marL="342900" indent="-342900">
              <a:spcAft>
                <a:spcPts val="700"/>
              </a:spcAft>
              <a:buFont typeface="Arial" panose="020B0604020202020204" pitchFamily="34" charset="0"/>
              <a:buChar char="•"/>
              <a:defRPr sz="2000">
                <a:solidFill>
                  <a:srgbClr val="232323"/>
                </a:solidFill>
              </a:defRPr>
            </a:pPr>
            <a:r>
              <a:rPr dirty="0"/>
              <a:t>Include additional years and wider regional coverage for stronger seasonal comparisons.</a:t>
            </a:r>
          </a:p>
          <a:p>
            <a:pPr marL="342900" indent="-342900">
              <a:spcAft>
                <a:spcPts val="700"/>
              </a:spcAft>
              <a:buFont typeface="Arial" panose="020B0604020202020204" pitchFamily="34" charset="0"/>
              <a:buChar char="•"/>
              <a:defRPr sz="2000">
                <a:solidFill>
                  <a:srgbClr val="232323"/>
                </a:solidFill>
              </a:defRPr>
            </a:pPr>
            <a:r>
              <a:rPr dirty="0"/>
              <a:t>Add weather and soil observations from external sources for deeper seasonal analysis.</a:t>
            </a:r>
          </a:p>
          <a:p>
            <a:pPr marL="342900" indent="-342900">
              <a:spcAft>
                <a:spcPts val="700"/>
              </a:spcAft>
              <a:buFont typeface="Arial" panose="020B0604020202020204" pitchFamily="34" charset="0"/>
              <a:buChar char="•"/>
              <a:defRPr sz="2000">
                <a:solidFill>
                  <a:srgbClr val="232323"/>
                </a:solidFill>
              </a:defRPr>
            </a:pPr>
            <a:r>
              <a:rPr dirty="0"/>
              <a:t>Extend the analysis with forecasting or predictive models when suitable data is available.</a:t>
            </a:r>
          </a:p>
          <a:p>
            <a:pPr marL="342900" indent="-342900">
              <a:spcAft>
                <a:spcPts val="700"/>
              </a:spcAft>
              <a:buFont typeface="Arial" panose="020B0604020202020204" pitchFamily="34" charset="0"/>
              <a:buChar char="•"/>
              <a:defRPr sz="2000">
                <a:solidFill>
                  <a:srgbClr val="232323"/>
                </a:solidFill>
              </a:defRPr>
            </a:pPr>
            <a:r>
              <a:rPr dirty="0"/>
              <a:t>Develop an interactive dashboard to present seasonal indicators and comparisons.</a:t>
            </a:r>
          </a:p>
          <a:p>
            <a:pPr marL="342900" indent="-342900">
              <a:spcAft>
                <a:spcPts val="700"/>
              </a:spcAft>
              <a:buFont typeface="Arial" panose="020B0604020202020204" pitchFamily="34" charset="0"/>
              <a:buChar char="•"/>
              <a:defRPr sz="2000">
                <a:solidFill>
                  <a:srgbClr val="232323"/>
                </a:solidFill>
              </a:defRPr>
            </a:pPr>
            <a:r>
              <a:rPr dirty="0"/>
              <a:t>Automate seasonal reports for regular agricultural planning and resource monitoring.</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440320"/>
            <a:ext cx="7232875" cy="646331"/>
          </a:xfrm>
          <a:prstGeom prst="rect">
            <a:avLst/>
          </a:prstGeom>
          <a:noFill/>
        </p:spPr>
        <p:txBody>
          <a:bodyPr wrap="square" lIns="18288" tIns="18288" rIns="18288" bIns="18288">
            <a:spAutoFit/>
          </a:bodyPr>
          <a:lstStyle/>
          <a:p>
            <a:endParaRPr/>
          </a:p>
        </p:txBody>
      </p:sp>
      <p:sp>
        <p:nvSpPr>
          <p:cNvPr id="24" name="TextBox 23"/>
          <p:cNvSpPr txBox="1"/>
          <p:nvPr/>
        </p:nvSpPr>
        <p:spPr>
          <a:xfrm>
            <a:off x="777240" y="1417320"/>
            <a:ext cx="7223760" cy="640080"/>
          </a:xfrm>
          <a:prstGeom prst="rect">
            <a:avLst/>
          </a:prstGeom>
          <a:noFill/>
        </p:spPr>
        <p:txBody>
          <a:bodyPr wrap="square" lIns="45720" tIns="27432" rIns="45720" bIns="27432">
            <a:spAutoFit/>
          </a:bodyPr>
          <a:lstStyle/>
          <a:p>
            <a:pPr algn="l"/>
            <a:endParaRPr/>
          </a:p>
        </p:txBody>
      </p:sp>
      <p:sp>
        <p:nvSpPr>
          <p:cNvPr id="6" name="TextBox 5">
            <a:extLst>
              <a:ext uri="{FF2B5EF4-FFF2-40B4-BE49-F238E27FC236}">
                <a16:creationId xmlns:a16="http://schemas.microsoft.com/office/drawing/2014/main" id="{330EF190-88FC-B8E6-2AF8-97EE8A88526F}"/>
              </a:ext>
            </a:extLst>
          </p:cNvPr>
          <p:cNvSpPr txBox="1"/>
          <p:nvPr/>
        </p:nvSpPr>
        <p:spPr>
          <a:xfrm>
            <a:off x="522514" y="2015234"/>
            <a:ext cx="6102220" cy="646331"/>
          </a:xfrm>
          <a:prstGeom prst="rect">
            <a:avLst/>
          </a:prstGeom>
          <a:noFill/>
        </p:spPr>
        <p:txBody>
          <a:bodyPr wrap="square">
            <a:spAutoFit/>
          </a:bodyPr>
          <a:lstStyle/>
          <a:p>
            <a:r>
              <a:rPr lang="en-IN" dirty="0"/>
              <a:t>https://github.com/PKhadarkhan/Seasonal-Agriculture-Performance-Analysis.git</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322EDBCA-B12A-7B67-55B3-5BFE1E0C10C0}"/>
              </a:ext>
            </a:extLst>
          </p:cNvPr>
          <p:cNvPicPr>
            <a:picLocks noChangeAspect="1"/>
          </p:cNvPicPr>
          <p:nvPr/>
        </p:nvPicPr>
        <p:blipFill>
          <a:blip r:embed="rId3"/>
          <a:srcRect l="388"/>
          <a:stretch>
            <a:fillRect/>
          </a:stretch>
        </p:blipFill>
        <p:spPr>
          <a:xfrm>
            <a:off x="1427582" y="1608410"/>
            <a:ext cx="6619425" cy="4633362"/>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1376</TotalTime>
  <Words>430</Words>
  <Application>Microsoft Office PowerPoint</Application>
  <PresentationFormat>Widescreen</PresentationFormat>
  <Paragraphs>43</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 -</vt:lpstr>
      <vt:lpstr>PROBLEM  STATEMENT</vt:lpstr>
      <vt:lpstr>Project Description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khadar khan</cp:lastModifiedBy>
  <cp:revision>99</cp:revision>
  <dcterms:created xsi:type="dcterms:W3CDTF">2021-07-11T13:13:15Z</dcterms:created>
  <dcterms:modified xsi:type="dcterms:W3CDTF">2026-09-08T15:08:35Z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